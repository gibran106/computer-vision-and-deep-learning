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104" autoAdjust="0"/>
  </p:normalViewPr>
  <p:slideViewPr>
    <p:cSldViewPr snapToGrid="0" snapToObjects="1">
      <p:cViewPr varScale="1">
        <p:scale>
          <a:sx n="121" d="100"/>
          <a:sy n="121" d="100"/>
        </p:scale>
        <p:origin x="138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324F"/>
                </a:solidFill>
                <a:latin typeface="Arial"/>
              </a:defRPr>
            </a:pPr>
            <a:r>
              <a:rPr lang="en-ID" sz="1200" b="0" i="0" u="none" strike="noStrike">
                <a:solidFill>
                  <a:srgbClr val="16324F"/>
                </a:solidFill>
                <a:latin typeface="Arial"/>
              </a:rPr>
              <a:t>Jumlah kotak per kelas</a:t>
            </a:r>
          </a:p>
        </c:rich>
      </c:tx>
      <c:overlay val="0"/>
    </c:title>
    <c:autoTitleDeleted val="0"/>
    <c:plotArea>
      <c:layout/>
      <c:barChart>
        <c:barDir val="col"/>
        <c:grouping val="clustered"/>
        <c:varyColors val="0"/>
        <c:ser>
          <c:idx val="0"/>
          <c:order val="0"/>
          <c:tx>
            <c:strRef>
              <c:f>Sheet1!$B$1</c:f>
              <c:strCache>
                <c:ptCount val="1"/>
                <c:pt idx="0">
                  <c:v>Jumlah kotak</c:v>
                </c:pt>
              </c:strCache>
            </c:strRef>
          </c:tx>
          <c:spPr>
            <a:solidFill>
              <a:srgbClr val="2B7BC0"/>
            </a:solidFill>
            <a:effectLst/>
          </c:spPr>
          <c:invertIfNegative val="0"/>
          <c:dLbls>
            <c:numFmt formatCode="#,##0" sourceLinked="0"/>
            <c:spPr>
              <a:noFill/>
              <a:ln>
                <a:noFill/>
              </a:ln>
              <a:effectLst/>
            </c:spPr>
            <c:txPr>
              <a:bodyPr/>
              <a:lstStyle/>
              <a:p>
                <a:pPr>
                  <a:defRPr sz="1100" b="0" i="0" u="none" strike="noStrike">
                    <a:solidFill>
                      <a:srgbClr val="1632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person</c:v>
                </c:pt>
                <c:pt idx="1">
                  <c:v>car</c:v>
                </c:pt>
                <c:pt idx="2">
                  <c:v>cup</c:v>
                </c:pt>
              </c:strCache>
            </c:strRef>
          </c:cat>
          <c:val>
            <c:numRef>
              <c:f>Sheet1!$B$2:$B$4</c:f>
              <c:numCache>
                <c:formatCode>General</c:formatCode>
                <c:ptCount val="3"/>
                <c:pt idx="0">
                  <c:v>187</c:v>
                </c:pt>
                <c:pt idx="1">
                  <c:v>28</c:v>
                </c:pt>
                <c:pt idx="2">
                  <c:v>31</c:v>
                </c:pt>
              </c:numCache>
            </c:numRef>
          </c:val>
          <c:extLst>
            <c:ext xmlns:c16="http://schemas.microsoft.com/office/drawing/2014/chart" uri="{C3380CC4-5D6E-409C-BE32-E72D297353CC}">
              <c16:uniqueId val="{00000000-45C9-4527-A4C5-BDB5EC165F2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71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loss train</c:v>
                </c:pt>
              </c:strCache>
            </c:strRef>
          </c:tx>
          <c:spPr>
            <a:ln w="25400" cap="flat">
              <a:solidFill>
                <a:srgbClr val="2B7BC0"/>
              </a:solidFill>
              <a:prstDash val="solid"/>
              <a:round/>
            </a:ln>
            <a:effectLst/>
          </c:spPr>
          <c:marker>
            <c:symbol val="none"/>
          </c:marker>
          <c:cat>
            <c:strRef>
              <c:f>Sheet1!$A$2:$A$8</c:f>
              <c:strCache>
                <c:ptCount val="7"/>
                <c:pt idx="0">
                  <c:v>1</c:v>
                </c:pt>
                <c:pt idx="1">
                  <c:v>5</c:v>
                </c:pt>
                <c:pt idx="2">
                  <c:v>10</c:v>
                </c:pt>
                <c:pt idx="3">
                  <c:v>15</c:v>
                </c:pt>
                <c:pt idx="4">
                  <c:v>20</c:v>
                </c:pt>
                <c:pt idx="5">
                  <c:v>25</c:v>
                </c:pt>
                <c:pt idx="6">
                  <c:v>30</c:v>
                </c:pt>
              </c:strCache>
            </c:strRef>
          </c:cat>
          <c:val>
            <c:numRef>
              <c:f>Sheet1!$B$2:$B$8</c:f>
              <c:numCache>
                <c:formatCode>General</c:formatCode>
                <c:ptCount val="7"/>
                <c:pt idx="0">
                  <c:v>2.6</c:v>
                </c:pt>
                <c:pt idx="1">
                  <c:v>1.7</c:v>
                </c:pt>
                <c:pt idx="2">
                  <c:v>1.3</c:v>
                </c:pt>
                <c:pt idx="3">
                  <c:v>1.1000000000000001</c:v>
                </c:pt>
                <c:pt idx="4">
                  <c:v>0.95</c:v>
                </c:pt>
                <c:pt idx="5">
                  <c:v>0.85</c:v>
                </c:pt>
                <c:pt idx="6">
                  <c:v>0.78</c:v>
                </c:pt>
              </c:numCache>
            </c:numRef>
          </c:val>
          <c:smooth val="0"/>
          <c:extLst>
            <c:ext xmlns:c16="http://schemas.microsoft.com/office/drawing/2014/chart" uri="{C3380CC4-5D6E-409C-BE32-E72D297353CC}">
              <c16:uniqueId val="{00000000-B5F5-409A-B880-D1371510093D}"/>
            </c:ext>
          </c:extLst>
        </c:ser>
        <c:ser>
          <c:idx val="1"/>
          <c:order val="1"/>
          <c:tx>
            <c:strRef>
              <c:f>Sheet1!$C$1</c:f>
              <c:strCache>
                <c:ptCount val="1"/>
                <c:pt idx="0">
                  <c:v>loss val (sehat)</c:v>
                </c:pt>
              </c:strCache>
            </c:strRef>
          </c:tx>
          <c:spPr>
            <a:ln w="25400" cap="flat">
              <a:solidFill>
                <a:srgbClr val="2E9E6B"/>
              </a:solidFill>
              <a:prstDash val="solid"/>
              <a:round/>
            </a:ln>
            <a:effectLst/>
          </c:spPr>
          <c:marker>
            <c:symbol val="none"/>
          </c:marker>
          <c:cat>
            <c:strRef>
              <c:f>Sheet1!$A$2:$A$8</c:f>
              <c:strCache>
                <c:ptCount val="7"/>
                <c:pt idx="0">
                  <c:v>1</c:v>
                </c:pt>
                <c:pt idx="1">
                  <c:v>5</c:v>
                </c:pt>
                <c:pt idx="2">
                  <c:v>10</c:v>
                </c:pt>
                <c:pt idx="3">
                  <c:v>15</c:v>
                </c:pt>
                <c:pt idx="4">
                  <c:v>20</c:v>
                </c:pt>
                <c:pt idx="5">
                  <c:v>25</c:v>
                </c:pt>
                <c:pt idx="6">
                  <c:v>30</c:v>
                </c:pt>
              </c:strCache>
            </c:strRef>
          </c:cat>
          <c:val>
            <c:numRef>
              <c:f>Sheet1!$C$2:$C$8</c:f>
              <c:numCache>
                <c:formatCode>General</c:formatCode>
                <c:ptCount val="7"/>
                <c:pt idx="0">
                  <c:v>2.5</c:v>
                </c:pt>
                <c:pt idx="1">
                  <c:v>1.8</c:v>
                </c:pt>
                <c:pt idx="2">
                  <c:v>1.45</c:v>
                </c:pt>
                <c:pt idx="3">
                  <c:v>1.3</c:v>
                </c:pt>
                <c:pt idx="4">
                  <c:v>1.22</c:v>
                </c:pt>
                <c:pt idx="5">
                  <c:v>1.18</c:v>
                </c:pt>
                <c:pt idx="6">
                  <c:v>1.1599999999999999</c:v>
                </c:pt>
              </c:numCache>
            </c:numRef>
          </c:val>
          <c:smooth val="0"/>
          <c:extLst>
            <c:ext xmlns:c16="http://schemas.microsoft.com/office/drawing/2014/chart" uri="{C3380CC4-5D6E-409C-BE32-E72D297353CC}">
              <c16:uniqueId val="{00000001-B5F5-409A-B880-D1371510093D}"/>
            </c:ext>
          </c:extLst>
        </c:ser>
        <c:ser>
          <c:idx val="2"/>
          <c:order val="2"/>
          <c:tx>
            <c:strRef>
              <c:f>Sheet1!$D$1</c:f>
              <c:strCache>
                <c:ptCount val="1"/>
                <c:pt idx="0">
                  <c:v>loss val (overfitting)</c:v>
                </c:pt>
              </c:strCache>
            </c:strRef>
          </c:tx>
          <c:spPr>
            <a:ln w="25400" cap="flat">
              <a:solidFill>
                <a:srgbClr val="C2413B"/>
              </a:solidFill>
              <a:prstDash val="solid"/>
              <a:round/>
            </a:ln>
            <a:effectLst/>
          </c:spPr>
          <c:marker>
            <c:symbol val="none"/>
          </c:marker>
          <c:cat>
            <c:strRef>
              <c:f>Sheet1!$A$2:$A$8</c:f>
              <c:strCache>
                <c:ptCount val="7"/>
                <c:pt idx="0">
                  <c:v>1</c:v>
                </c:pt>
                <c:pt idx="1">
                  <c:v>5</c:v>
                </c:pt>
                <c:pt idx="2">
                  <c:v>10</c:v>
                </c:pt>
                <c:pt idx="3">
                  <c:v>15</c:v>
                </c:pt>
                <c:pt idx="4">
                  <c:v>20</c:v>
                </c:pt>
                <c:pt idx="5">
                  <c:v>25</c:v>
                </c:pt>
                <c:pt idx="6">
                  <c:v>30</c:v>
                </c:pt>
              </c:strCache>
            </c:strRef>
          </c:cat>
          <c:val>
            <c:numRef>
              <c:f>Sheet1!$D$2:$D$8</c:f>
              <c:numCache>
                <c:formatCode>General</c:formatCode>
                <c:ptCount val="7"/>
                <c:pt idx="0">
                  <c:v>2.5</c:v>
                </c:pt>
                <c:pt idx="1">
                  <c:v>1.8</c:v>
                </c:pt>
                <c:pt idx="2">
                  <c:v>1.5</c:v>
                </c:pt>
                <c:pt idx="3">
                  <c:v>1.45</c:v>
                </c:pt>
                <c:pt idx="4">
                  <c:v>1.55</c:v>
                </c:pt>
                <c:pt idx="5">
                  <c:v>1.7</c:v>
                </c:pt>
                <c:pt idx="6">
                  <c:v>1.85</c:v>
                </c:pt>
              </c:numCache>
            </c:numRef>
          </c:val>
          <c:smooth val="0"/>
          <c:extLst>
            <c:ext xmlns:c16="http://schemas.microsoft.com/office/drawing/2014/chart" uri="{C3380CC4-5D6E-409C-BE32-E72D297353CC}">
              <c16:uniqueId val="{00000002-B5F5-409A-B880-D1371510093D}"/>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000000"/>
                    </a:solidFill>
                    <a:latin typeface="Arial"/>
                  </a:defRPr>
                </a:pPr>
                <a:r>
                  <a:rPr lang="en-ID" sz="1000" b="0" i="0" u="none" strike="noStrike">
                    <a:solidFill>
                      <a:srgbClr val="000000"/>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71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71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929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setiap minggu adalah bahan minggu berikutnya.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AutoNum type="arabicPeriod"/>
            </a:pPr>
            <a:r>
              <a:rPr lang="en-US" sz="2000" dirty="0" err="1"/>
              <a:t>Bobot</a:t>
            </a:r>
            <a:r>
              <a:rPr lang="en-US" sz="2000" dirty="0"/>
              <a:t> pretrained: </a:t>
            </a:r>
            <a:r>
              <a:rPr lang="en-US" sz="2000" dirty="0" err="1"/>
              <a:t>menggunakan</a:t>
            </a:r>
            <a:r>
              <a:rPr lang="en-US" sz="2000" dirty="0"/>
              <a:t> model yang </a:t>
            </a:r>
            <a:r>
              <a:rPr lang="en-US" sz="2000" dirty="0" err="1"/>
              <a:t>berekstensi</a:t>
            </a:r>
            <a:r>
              <a:rPr lang="en-US" sz="2000" dirty="0"/>
              <a:t> .pt </a:t>
            </a:r>
            <a:r>
              <a:rPr lang="en-US" sz="2000" dirty="0" err="1"/>
              <a:t>yaitu</a:t>
            </a:r>
            <a:r>
              <a:rPr lang="en-US" sz="2000" dirty="0"/>
              <a:t> (model=yolo26n.pt) = transfer learning</a:t>
            </a:r>
          </a:p>
          <a:p>
            <a:pPr marL="457200" indent="-457200">
              <a:buAutoNum type="arabicPeriod"/>
            </a:pPr>
            <a:r>
              <a:rPr lang="en-US" sz="2000" dirty="0" err="1"/>
              <a:t>Mulai</a:t>
            </a:r>
            <a:r>
              <a:rPr lang="en-US" sz="2000" dirty="0"/>
              <a:t> </a:t>
            </a:r>
            <a:r>
              <a:rPr lang="en-US" sz="2000" dirty="0" err="1"/>
              <a:t>dari</a:t>
            </a:r>
            <a:r>
              <a:rPr lang="en-US" sz="2000" dirty="0"/>
              <a:t> </a:t>
            </a:r>
            <a:r>
              <a:rPr lang="en-US" sz="2000" dirty="0" err="1"/>
              <a:t>nol</a:t>
            </a:r>
            <a:r>
              <a:rPr lang="en-US" sz="2000" dirty="0"/>
              <a:t>: </a:t>
            </a:r>
            <a:r>
              <a:rPr lang="en-US" sz="2000" dirty="0" err="1"/>
              <a:t>menggunakan</a:t>
            </a:r>
            <a:r>
              <a:rPr lang="en-US" sz="2000" dirty="0"/>
              <a:t> full dataset (</a:t>
            </a:r>
            <a:r>
              <a:rPr lang="en-US" sz="2000" dirty="0" err="1"/>
              <a:t>banyak</a:t>
            </a:r>
            <a:r>
              <a:rPr lang="en-US" sz="2000" dirty="0"/>
              <a:t> dataset) </a:t>
            </a:r>
            <a:r>
              <a:rPr lang="en-US" sz="2000" dirty="0" err="1"/>
              <a:t>cara</a:t>
            </a:r>
            <a:r>
              <a:rPr lang="en-US" sz="2000" dirty="0"/>
              <a:t> </a:t>
            </a:r>
            <a:r>
              <a:rPr lang="en-US" sz="2000" dirty="0" err="1"/>
              <a:t>penggunaannya</a:t>
            </a:r>
            <a:r>
              <a:rPr lang="en-US" sz="2000" dirty="0"/>
              <a:t> (model=yolo26n.yaml) = </a:t>
            </a:r>
            <a:r>
              <a:rPr lang="en-US" sz="2000" dirty="0" err="1"/>
              <a:t>bukan</a:t>
            </a:r>
            <a:r>
              <a:rPr lang="en-US" sz="2000" dirty="0"/>
              <a:t> transfer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minggu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names menentukan arti class_id.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Pilih dataset sumber sesuai tugas.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meniru variasi dunia nyata.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cx baru = 1 − cx untuk flip kiri-kanan.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HSV: hue, saturasi, kecerahan.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sederhana 2×2; Ultralytics memakai titik potong acak.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Nilai bawaan bisa berbeda antarversi.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harus meniru kondisi nyata.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Train:Test</a:t>
            </a:r>
            <a:endParaRPr lang="en-US" dirty="0"/>
          </a:p>
          <a:p>
            <a:r>
              <a:rPr lang="en-US" dirty="0"/>
              <a:t>80:20</a:t>
            </a:r>
          </a:p>
          <a:p>
            <a:r>
              <a:rPr lang="en-US" dirty="0"/>
              <a:t>75:25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asli dari program 00/01.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perintah, banyak langkah di dalamnya.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Pretrained vs scratch = eksperimen inti praktik.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model n (nano).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ini ilustrasi pola, bukan hasil pelatihan.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 ≥ ambang dan kelas benar = TP.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8 TP, 2 FP, 4 FN.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mAP50-95 adalah ukuran utama COCO.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file grafik bisa sedikit berbeda antarversi.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 dengan prinsip eksperimen minggu 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sering paling berdampak.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adalah bahan utama laporan Pj1.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 untuk memilih, test untuk melaporkan.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Dinilai bersama RET501.</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Bisa dibagi ke beberapa sesi lab dengan checkpoint.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Keluaran asli program ini ada di PPT pertemuan 4.</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vs E2 = bukti transfer learning; E1 vs E3 = hasil tuning.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diisi oleh hasil masing-masing kelompok.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praktik, tiga asesmen RPS.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160520"/>
            <a:ext cx="9144000" cy="982980"/>
          </a:xfrm>
          <a:prstGeom prst="rect">
            <a:avLst/>
          </a:prstGeom>
          <a:solidFill>
            <a:srgbClr val="8FCBF0"/>
          </a:solidFill>
          <a:ln w="12700">
            <a:solidFill>
              <a:srgbClr val="8FCBF0"/>
            </a:solidFill>
            <a:prstDash val="solid"/>
          </a:ln>
        </p:spPr>
      </p:sp>
      <p:sp>
        <p:nvSpPr>
          <p:cNvPr id="3" name="Text 1"/>
          <p:cNvSpPr txBox="1"/>
          <p:nvPr/>
        </p:nvSpPr>
        <p:spPr>
          <a:xfrm>
            <a:off x="548640" y="822960"/>
            <a:ext cx="8046720" cy="320040"/>
          </a:xfrm>
          <a:prstGeom prst="rect">
            <a:avLst/>
          </a:prstGeom>
          <a:noFill/>
          <a:ln/>
        </p:spPr>
        <p:txBody>
          <a:bodyPr wrap="square" lIns="0" tIns="0" rIns="0" bIns="0" rtlCol="0" anchor="ctr"/>
          <a:lstStyle/>
          <a:p>
            <a:pPr marL="0" indent="0">
              <a:buNone/>
            </a:pPr>
            <a:r>
              <a:rPr lang="en-US" sz="1200" b="1" kern="0" spc="200" dirty="0">
                <a:solidFill>
                  <a:srgbClr val="2B7BC0"/>
                </a:solidFill>
                <a:latin typeface="Calibri" pitchFamily="34" charset="0"/>
                <a:ea typeface="Calibri" pitchFamily="34" charset="-122"/>
                <a:cs typeface="Calibri" pitchFamily="34" charset="-120"/>
              </a:rPr>
              <a:t>RET503 COMPUTER VISION AND DEEP LEARNING · MINGGU 4–7</a:t>
            </a:r>
            <a:endParaRPr lang="en-US" sz="1200" dirty="0"/>
          </a:p>
        </p:txBody>
      </p:sp>
      <p:sp>
        <p:nvSpPr>
          <p:cNvPr id="4" name="Text 2"/>
          <p:cNvSpPr txBox="1"/>
          <p:nvPr/>
        </p:nvSpPr>
        <p:spPr>
          <a:xfrm>
            <a:off x="548640" y="1234440"/>
            <a:ext cx="8046720" cy="1463040"/>
          </a:xfrm>
          <a:prstGeom prst="rect">
            <a:avLst/>
          </a:prstGeom>
          <a:noFill/>
          <a:ln/>
        </p:spPr>
        <p:txBody>
          <a:bodyPr wrap="square" lIns="0" tIns="0" rIns="0" bIns="0" rtlCol="0" anchor="t"/>
          <a:lstStyle/>
          <a:p>
            <a:pPr marL="0" indent="0">
              <a:buNone/>
            </a:pPr>
            <a:r>
              <a:rPr lang="en-US" sz="4200" b="1" dirty="0">
                <a:solidFill>
                  <a:srgbClr val="16324F"/>
                </a:solidFill>
                <a:latin typeface="Arial" pitchFamily="34" charset="0"/>
                <a:ea typeface="Arial" pitchFamily="34" charset="-122"/>
                <a:cs typeface="Arial" pitchFamily="34" charset="-120"/>
              </a:rPr>
              <a:t>Dari Data ke</a:t>
            </a:r>
            <a:endParaRPr lang="en-US" sz="4200" dirty="0"/>
          </a:p>
          <a:p>
            <a:pPr marL="0" indent="0">
              <a:buNone/>
            </a:pPr>
            <a:r>
              <a:rPr lang="en-US" sz="4200" b="1" dirty="0">
                <a:solidFill>
                  <a:srgbClr val="16324F"/>
                </a:solidFill>
                <a:latin typeface="Arial" pitchFamily="34" charset="0"/>
                <a:ea typeface="Arial" pitchFamily="34" charset="-122"/>
                <a:cs typeface="Arial" pitchFamily="34" charset="-120"/>
              </a:rPr>
              <a:t>Model YOLO</a:t>
            </a:r>
            <a:endParaRPr lang="en-US" sz="42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marL="0" indent="0">
              <a:buNone/>
            </a:pPr>
            <a:endParaRPr lang="en-US" sz="1700" dirty="0"/>
          </a:p>
        </p:txBody>
      </p:sp>
      <p:sp>
        <p:nvSpPr>
          <p:cNvPr id="6" name="Text 4"/>
          <p:cNvSpPr txBox="1"/>
          <p:nvPr/>
        </p:nvSpPr>
        <p:spPr>
          <a:xfrm>
            <a:off x="548640" y="4434840"/>
            <a:ext cx="8046720" cy="365760"/>
          </a:xfrm>
          <a:prstGeom prst="rect">
            <a:avLst/>
          </a:prstGeom>
          <a:noFill/>
          <a:ln/>
        </p:spPr>
        <p:txBody>
          <a:bodyPr wrap="square" lIns="0" tIns="0" rIns="0" bIns="0" rtlCol="0" anchor="ctr"/>
          <a:lstStyle/>
          <a:p>
            <a:pPr marL="0" indent="0">
              <a:buNone/>
            </a:pPr>
            <a:r>
              <a:rPr lang="en-US" sz="1200" dirty="0">
                <a:solidFill>
                  <a:srgbClr val="16324F"/>
                </a:solidFill>
                <a:latin typeface="Calibri" pitchFamily="34" charset="0"/>
                <a:ea typeface="Calibri" pitchFamily="34" charset="-122"/>
                <a:cs typeface="Calibri" pitchFamily="34" charset="-120"/>
              </a:rPr>
              <a:t>CLO-3 · CLO-4 · Program Studi Teknologi Rekayasa Robotika · Politeknik Negeri Batam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Peta </a:t>
            </a:r>
            <a:r>
              <a:rPr lang="en-US" sz="2600" b="1" dirty="0" err="1">
                <a:solidFill>
                  <a:srgbClr val="16324F"/>
                </a:solidFill>
                <a:latin typeface="Arial" pitchFamily="34" charset="0"/>
                <a:ea typeface="Arial" pitchFamily="34" charset="-122"/>
                <a:cs typeface="Arial" pitchFamily="34" charset="-120"/>
              </a:rPr>
              <a:t>Pembelajaran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a:t>
            </a:r>
            <a:endParaRPr lang="en-US" sz="900" dirty="0"/>
          </a:p>
        </p:txBody>
      </p:sp>
      <p:sp>
        <p:nvSpPr>
          <p:cNvPr id="6" name="Text 3"/>
          <p:cNvSpPr txBox="1"/>
          <p:nvPr/>
        </p:nvSpPr>
        <p:spPr>
          <a:xfrm>
            <a:off x="457200" y="1051560"/>
            <a:ext cx="8229600" cy="105156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Empat minggu ini adalah satu alur kerja yang bersambung. Kita mulai dari data mentah, menyiapkannya dalam format yang dipahami YOLO, memperkaya variasinya, melatih model, lalu memperbaikinya sampai layak dipakai. Hasil setiap minggu menjadi bahan minggu berikutnya, sehingga tidak ada tahap yang bisa dilewati.</a:t>
            </a:r>
            <a:endParaRPr lang="en-US" sz="1350" dirty="0"/>
          </a:p>
        </p:txBody>
      </p:sp>
      <p:sp>
        <p:nvSpPr>
          <p:cNvPr id="7" name="Shape 4"/>
          <p:cNvSpPr/>
          <p:nvPr/>
        </p:nvSpPr>
        <p:spPr>
          <a:xfrm>
            <a:off x="457200" y="2240280"/>
            <a:ext cx="1920240" cy="1920240"/>
          </a:xfrm>
          <a:prstGeom prst="roundRect">
            <a:avLst>
              <a:gd name="adj" fmla="val 3810"/>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8" name="Shape 5"/>
          <p:cNvSpPr/>
          <p:nvPr/>
        </p:nvSpPr>
        <p:spPr>
          <a:xfrm>
            <a:off x="1188720" y="2359152"/>
            <a:ext cx="457200" cy="457200"/>
          </a:xfrm>
          <a:prstGeom prst="ellipse">
            <a:avLst/>
          </a:prstGeom>
          <a:solidFill>
            <a:srgbClr val="2B7BC0"/>
          </a:solidFill>
          <a:ln w="12700">
            <a:solidFill>
              <a:srgbClr val="2B7BC0"/>
            </a:solidFill>
            <a:prstDash val="solid"/>
          </a:ln>
        </p:spPr>
      </p:sp>
      <p:sp>
        <p:nvSpPr>
          <p:cNvPr id="9" name="Text 6"/>
          <p:cNvSpPr txBox="1"/>
          <p:nvPr/>
        </p:nvSpPr>
        <p:spPr>
          <a:xfrm>
            <a:off x="1188720" y="23591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0" name="Text 7"/>
          <p:cNvSpPr txBox="1"/>
          <p:nvPr/>
        </p:nvSpPr>
        <p:spPr>
          <a:xfrm>
            <a:off x="548640" y="2880360"/>
            <a:ext cx="1737360" cy="457200"/>
          </a:xfrm>
          <a:prstGeom prst="rect">
            <a:avLst/>
          </a:prstGeom>
          <a:noFill/>
          <a:ln/>
        </p:spPr>
        <p:txBody>
          <a:bodyPr wrap="square" lIns="0" tIns="0" rIns="0" bIns="0" rtlCol="0" anchor="ctr"/>
          <a:lstStyle/>
          <a:p>
            <a:pPr marL="0" indent="0" algn="ctr">
              <a:buNone/>
            </a:pPr>
            <a:r>
              <a:rPr lang="en-US" sz="1300" b="1" dirty="0">
                <a:solidFill>
                  <a:srgbClr val="16324F"/>
                </a:solidFill>
                <a:latin typeface="Arial" pitchFamily="34" charset="0"/>
                <a:ea typeface="Arial" pitchFamily="34" charset="-122"/>
                <a:cs typeface="Arial" pitchFamily="34" charset="-120"/>
              </a:rPr>
              <a:t>Preparasi data</a:t>
            </a:r>
            <a:endParaRPr lang="en-US" sz="1300" dirty="0"/>
          </a:p>
        </p:txBody>
      </p:sp>
      <p:sp>
        <p:nvSpPr>
          <p:cNvPr id="11" name="Text 8"/>
          <p:cNvSpPr txBox="1"/>
          <p:nvPr/>
        </p:nvSpPr>
        <p:spPr>
          <a:xfrm>
            <a:off x="548640" y="3337560"/>
            <a:ext cx="1737360" cy="502920"/>
          </a:xfrm>
          <a:prstGeom prst="rect">
            <a:avLst/>
          </a:prstGeom>
          <a:noFill/>
          <a:ln/>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bounding box, format YOLO/COCO</a:t>
            </a:r>
            <a:endParaRPr lang="en-US" sz="1100" dirty="0"/>
          </a:p>
        </p:txBody>
      </p:sp>
      <p:sp>
        <p:nvSpPr>
          <p:cNvPr id="12" name="Text 9"/>
          <p:cNvSpPr txBox="1"/>
          <p:nvPr/>
        </p:nvSpPr>
        <p:spPr>
          <a:xfrm>
            <a:off x="548640" y="3840480"/>
            <a:ext cx="1737360" cy="228600"/>
          </a:xfrm>
          <a:prstGeom prst="rect">
            <a:avLst/>
          </a:prstGeom>
          <a:noFill/>
          <a:ln/>
        </p:spPr>
        <p:txBody>
          <a:bodyPr wrap="square" lIns="0" tIns="0" rIns="0" bIns="0" rtlCol="0" anchor="ctr"/>
          <a:lstStyle/>
          <a:p>
            <a:pPr marL="0" indent="0" algn="ctr">
              <a:buNone/>
            </a:pPr>
            <a:r>
              <a:rPr lang="en-US" sz="1000" b="1" dirty="0">
                <a:solidFill>
                  <a:srgbClr val="2B7BC0"/>
                </a:solidFill>
                <a:latin typeface="Calibri" pitchFamily="34" charset="0"/>
                <a:ea typeface="Calibri" pitchFamily="34" charset="-122"/>
                <a:cs typeface="Calibri" pitchFamily="34" charset="-120"/>
              </a:rPr>
              <a:t>CLO-3</a:t>
            </a:r>
            <a:endParaRPr lang="en-US" sz="1000" dirty="0"/>
          </a:p>
        </p:txBody>
      </p:sp>
      <p:sp>
        <p:nvSpPr>
          <p:cNvPr id="13" name="Shape 10"/>
          <p:cNvSpPr/>
          <p:nvPr/>
        </p:nvSpPr>
        <p:spPr>
          <a:xfrm>
            <a:off x="2560320" y="2240280"/>
            <a:ext cx="1920240" cy="1920240"/>
          </a:xfrm>
          <a:prstGeom prst="roundRect">
            <a:avLst>
              <a:gd name="adj" fmla="val 381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14" name="Shape 11"/>
          <p:cNvSpPr/>
          <p:nvPr/>
        </p:nvSpPr>
        <p:spPr>
          <a:xfrm>
            <a:off x="3291840" y="2359152"/>
            <a:ext cx="457200" cy="457200"/>
          </a:xfrm>
          <a:prstGeom prst="ellipse">
            <a:avLst/>
          </a:prstGeom>
          <a:solidFill>
            <a:srgbClr val="2B7BC0"/>
          </a:solidFill>
          <a:ln w="12700">
            <a:solidFill>
              <a:srgbClr val="2B7BC0"/>
            </a:solidFill>
            <a:prstDash val="solid"/>
          </a:ln>
        </p:spPr>
      </p:sp>
      <p:sp>
        <p:nvSpPr>
          <p:cNvPr id="15" name="Text 12"/>
          <p:cNvSpPr txBox="1"/>
          <p:nvPr/>
        </p:nvSpPr>
        <p:spPr>
          <a:xfrm>
            <a:off x="3291840" y="23591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6" name="Text 13"/>
          <p:cNvSpPr txBox="1"/>
          <p:nvPr/>
        </p:nvSpPr>
        <p:spPr>
          <a:xfrm>
            <a:off x="2651760" y="2880360"/>
            <a:ext cx="1737360" cy="457200"/>
          </a:xfrm>
          <a:prstGeom prst="rect">
            <a:avLst/>
          </a:prstGeom>
          <a:noFill/>
          <a:ln/>
        </p:spPr>
        <p:txBody>
          <a:bodyPr wrap="square" lIns="0" tIns="0" rIns="0" bIns="0" rtlCol="0" anchor="ctr"/>
          <a:lstStyle/>
          <a:p>
            <a:pPr marL="0" indent="0" algn="ctr">
              <a:buNone/>
            </a:pPr>
            <a:r>
              <a:rPr lang="en-US" sz="1300" b="1" dirty="0">
                <a:solidFill>
                  <a:srgbClr val="16324F"/>
                </a:solidFill>
                <a:latin typeface="Arial" pitchFamily="34" charset="0"/>
                <a:ea typeface="Arial" pitchFamily="34" charset="-122"/>
                <a:cs typeface="Arial" pitchFamily="34" charset="-120"/>
              </a:rPr>
              <a:t>Augmentasi &amp; manajemen</a:t>
            </a:r>
            <a:endParaRPr lang="en-US" sz="1300" dirty="0"/>
          </a:p>
        </p:txBody>
      </p:sp>
      <p:sp>
        <p:nvSpPr>
          <p:cNvPr id="17" name="Text 14"/>
          <p:cNvSpPr txBox="1"/>
          <p:nvPr/>
        </p:nvSpPr>
        <p:spPr>
          <a:xfrm>
            <a:off x="2651760" y="3337560"/>
            <a:ext cx="1737360" cy="502920"/>
          </a:xfrm>
          <a:prstGeom prst="rect">
            <a:avLst/>
          </a:prstGeom>
          <a:noFill/>
          <a:ln/>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variasi data, train/val/test, versi</a:t>
            </a:r>
            <a:endParaRPr lang="en-US" sz="1100" dirty="0"/>
          </a:p>
        </p:txBody>
      </p:sp>
      <p:sp>
        <p:nvSpPr>
          <p:cNvPr id="18" name="Text 15"/>
          <p:cNvSpPr txBox="1"/>
          <p:nvPr/>
        </p:nvSpPr>
        <p:spPr>
          <a:xfrm>
            <a:off x="2651760" y="3840480"/>
            <a:ext cx="1737360" cy="228600"/>
          </a:xfrm>
          <a:prstGeom prst="rect">
            <a:avLst/>
          </a:prstGeom>
          <a:noFill/>
          <a:ln/>
        </p:spPr>
        <p:txBody>
          <a:bodyPr wrap="square" lIns="0" tIns="0" rIns="0" bIns="0" rtlCol="0" anchor="ctr"/>
          <a:lstStyle/>
          <a:p>
            <a:pPr marL="0" indent="0" algn="ctr">
              <a:buNone/>
            </a:pPr>
            <a:r>
              <a:rPr lang="en-US" sz="1000" b="1" dirty="0">
                <a:solidFill>
                  <a:srgbClr val="2B7BC0"/>
                </a:solidFill>
                <a:latin typeface="Calibri" pitchFamily="34" charset="0"/>
                <a:ea typeface="Calibri" pitchFamily="34" charset="-122"/>
                <a:cs typeface="Calibri" pitchFamily="34" charset="-120"/>
              </a:rPr>
              <a:t>CLO-3</a:t>
            </a:r>
            <a:endParaRPr lang="en-US" sz="1000" dirty="0"/>
          </a:p>
        </p:txBody>
      </p:sp>
      <p:sp>
        <p:nvSpPr>
          <p:cNvPr id="19" name="Shape 16"/>
          <p:cNvSpPr/>
          <p:nvPr/>
        </p:nvSpPr>
        <p:spPr>
          <a:xfrm>
            <a:off x="4663440" y="2240280"/>
            <a:ext cx="1920240" cy="1920240"/>
          </a:xfrm>
          <a:prstGeom prst="roundRect">
            <a:avLst>
              <a:gd name="adj" fmla="val 3810"/>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20" name="Shape 17"/>
          <p:cNvSpPr/>
          <p:nvPr/>
        </p:nvSpPr>
        <p:spPr>
          <a:xfrm>
            <a:off x="5394960" y="2359152"/>
            <a:ext cx="457200" cy="457200"/>
          </a:xfrm>
          <a:prstGeom prst="ellipse">
            <a:avLst/>
          </a:prstGeom>
          <a:solidFill>
            <a:srgbClr val="2B7BC0"/>
          </a:solidFill>
          <a:ln w="12700">
            <a:solidFill>
              <a:srgbClr val="2B7BC0"/>
            </a:solidFill>
            <a:prstDash val="solid"/>
          </a:ln>
        </p:spPr>
      </p:sp>
      <p:sp>
        <p:nvSpPr>
          <p:cNvPr id="21" name="Text 18"/>
          <p:cNvSpPr txBox="1"/>
          <p:nvPr/>
        </p:nvSpPr>
        <p:spPr>
          <a:xfrm>
            <a:off x="5394960" y="23591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2" name="Text 19"/>
          <p:cNvSpPr txBox="1"/>
          <p:nvPr/>
        </p:nvSpPr>
        <p:spPr>
          <a:xfrm>
            <a:off x="4754880" y="2880360"/>
            <a:ext cx="1737360" cy="457200"/>
          </a:xfrm>
          <a:prstGeom prst="rect">
            <a:avLst/>
          </a:prstGeom>
          <a:noFill/>
          <a:ln/>
        </p:spPr>
        <p:txBody>
          <a:bodyPr wrap="square" lIns="0" tIns="0" rIns="0" bIns="0" rtlCol="0" anchor="ctr"/>
          <a:lstStyle/>
          <a:p>
            <a:pPr marL="0" indent="0" algn="ctr">
              <a:buNone/>
            </a:pPr>
            <a:r>
              <a:rPr lang="en-US" sz="1300" b="1" dirty="0">
                <a:solidFill>
                  <a:srgbClr val="16324F"/>
                </a:solidFill>
                <a:latin typeface="Arial" pitchFamily="34" charset="0"/>
                <a:ea typeface="Arial" pitchFamily="34" charset="-122"/>
                <a:cs typeface="Arial" pitchFamily="34" charset="-120"/>
              </a:rPr>
              <a:t>Melatih YOLO</a:t>
            </a:r>
            <a:endParaRPr lang="en-US" sz="1300" dirty="0"/>
          </a:p>
        </p:txBody>
      </p:sp>
      <p:sp>
        <p:nvSpPr>
          <p:cNvPr id="23" name="Text 20"/>
          <p:cNvSpPr txBox="1"/>
          <p:nvPr/>
        </p:nvSpPr>
        <p:spPr>
          <a:xfrm>
            <a:off x="4754880" y="3337560"/>
            <a:ext cx="1737360" cy="502920"/>
          </a:xfrm>
          <a:prstGeom prst="rect">
            <a:avLst/>
          </a:prstGeom>
          <a:noFill/>
          <a:ln/>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transfer learning, loss, mAP</a:t>
            </a:r>
            <a:endParaRPr lang="en-US" sz="1100" dirty="0"/>
          </a:p>
        </p:txBody>
      </p:sp>
      <p:sp>
        <p:nvSpPr>
          <p:cNvPr id="24" name="Text 21"/>
          <p:cNvSpPr txBox="1"/>
          <p:nvPr/>
        </p:nvSpPr>
        <p:spPr>
          <a:xfrm>
            <a:off x="4754880" y="3840480"/>
            <a:ext cx="1737360" cy="228600"/>
          </a:xfrm>
          <a:prstGeom prst="rect">
            <a:avLst/>
          </a:prstGeom>
          <a:noFill/>
          <a:ln/>
        </p:spPr>
        <p:txBody>
          <a:bodyPr wrap="square" lIns="0" tIns="0" rIns="0" bIns="0" rtlCol="0" anchor="ctr"/>
          <a:lstStyle/>
          <a:p>
            <a:pPr marL="0" indent="0" algn="ctr">
              <a:buNone/>
            </a:pPr>
            <a:r>
              <a:rPr lang="en-US" sz="1000" b="1" dirty="0">
                <a:solidFill>
                  <a:srgbClr val="2B7BC0"/>
                </a:solidFill>
                <a:latin typeface="Calibri" pitchFamily="34" charset="0"/>
                <a:ea typeface="Calibri" pitchFamily="34" charset="-122"/>
                <a:cs typeface="Calibri" pitchFamily="34" charset="-120"/>
              </a:rPr>
              <a:t>CLO-4</a:t>
            </a:r>
            <a:endParaRPr lang="en-US" sz="1000" dirty="0"/>
          </a:p>
        </p:txBody>
      </p:sp>
      <p:sp>
        <p:nvSpPr>
          <p:cNvPr id="25" name="Shape 22"/>
          <p:cNvSpPr/>
          <p:nvPr/>
        </p:nvSpPr>
        <p:spPr>
          <a:xfrm>
            <a:off x="6766560" y="2240280"/>
            <a:ext cx="1920240" cy="1920240"/>
          </a:xfrm>
          <a:prstGeom prst="roundRect">
            <a:avLst>
              <a:gd name="adj" fmla="val 381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26" name="Shape 23"/>
          <p:cNvSpPr/>
          <p:nvPr/>
        </p:nvSpPr>
        <p:spPr>
          <a:xfrm>
            <a:off x="7498080" y="2359152"/>
            <a:ext cx="457200" cy="457200"/>
          </a:xfrm>
          <a:prstGeom prst="ellipse">
            <a:avLst/>
          </a:prstGeom>
          <a:solidFill>
            <a:srgbClr val="2B7BC0"/>
          </a:solidFill>
          <a:ln w="12700">
            <a:solidFill>
              <a:srgbClr val="2B7BC0"/>
            </a:solidFill>
            <a:prstDash val="solid"/>
          </a:ln>
        </p:spPr>
      </p:sp>
      <p:sp>
        <p:nvSpPr>
          <p:cNvPr id="27" name="Text 24"/>
          <p:cNvSpPr txBox="1"/>
          <p:nvPr/>
        </p:nvSpPr>
        <p:spPr>
          <a:xfrm>
            <a:off x="7498080" y="23591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8" name="Text 25"/>
          <p:cNvSpPr txBox="1"/>
          <p:nvPr/>
        </p:nvSpPr>
        <p:spPr>
          <a:xfrm>
            <a:off x="6858000" y="2880360"/>
            <a:ext cx="1737360" cy="457200"/>
          </a:xfrm>
          <a:prstGeom prst="rect">
            <a:avLst/>
          </a:prstGeom>
          <a:noFill/>
          <a:ln/>
        </p:spPr>
        <p:txBody>
          <a:bodyPr wrap="square" lIns="0" tIns="0" rIns="0" bIns="0" rtlCol="0" anchor="ctr"/>
          <a:lstStyle/>
          <a:p>
            <a:pPr marL="0" indent="0" algn="ctr">
              <a:buNone/>
            </a:pPr>
            <a:r>
              <a:rPr lang="en-US" sz="1300" b="1" dirty="0">
                <a:solidFill>
                  <a:srgbClr val="16324F"/>
                </a:solidFill>
                <a:latin typeface="Arial" pitchFamily="34" charset="0"/>
                <a:ea typeface="Arial" pitchFamily="34" charset="-122"/>
                <a:cs typeface="Arial" pitchFamily="34" charset="-120"/>
              </a:rPr>
              <a:t>Tuning &amp; evaluasi</a:t>
            </a:r>
            <a:endParaRPr lang="en-US" sz="1300" dirty="0"/>
          </a:p>
        </p:txBody>
      </p:sp>
      <p:sp>
        <p:nvSpPr>
          <p:cNvPr id="29" name="Text 26"/>
          <p:cNvSpPr txBox="1"/>
          <p:nvPr/>
        </p:nvSpPr>
        <p:spPr>
          <a:xfrm>
            <a:off x="6858000" y="3337560"/>
            <a:ext cx="1737360" cy="502920"/>
          </a:xfrm>
          <a:prstGeom prst="rect">
            <a:avLst/>
          </a:prstGeom>
          <a:noFill/>
          <a:ln/>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eksperimen sistematis, Pj1</a:t>
            </a:r>
            <a:endParaRPr lang="en-US" sz="1100" dirty="0"/>
          </a:p>
        </p:txBody>
      </p:sp>
      <p:sp>
        <p:nvSpPr>
          <p:cNvPr id="30" name="Text 27"/>
          <p:cNvSpPr txBox="1"/>
          <p:nvPr/>
        </p:nvSpPr>
        <p:spPr>
          <a:xfrm>
            <a:off x="6858000" y="3840480"/>
            <a:ext cx="1737360" cy="228600"/>
          </a:xfrm>
          <a:prstGeom prst="rect">
            <a:avLst/>
          </a:prstGeom>
          <a:noFill/>
          <a:ln/>
        </p:spPr>
        <p:txBody>
          <a:bodyPr wrap="square" lIns="0" tIns="0" rIns="0" bIns="0" rtlCol="0" anchor="ctr"/>
          <a:lstStyle/>
          <a:p>
            <a:pPr marL="0" indent="0" algn="ctr">
              <a:buNone/>
            </a:pPr>
            <a:r>
              <a:rPr lang="en-US" sz="1000" b="1" dirty="0">
                <a:solidFill>
                  <a:srgbClr val="2B7BC0"/>
                </a:solidFill>
                <a:latin typeface="Calibri" pitchFamily="34" charset="0"/>
                <a:ea typeface="Calibri" pitchFamily="34" charset="-122"/>
                <a:cs typeface="Calibri" pitchFamily="34" charset="-120"/>
              </a:rPr>
              <a:t>CLO-4</a:t>
            </a:r>
            <a:endParaRPr lang="en-US" sz="1000" dirty="0"/>
          </a:p>
        </p:txBody>
      </p:sp>
      <p:sp>
        <p:nvSpPr>
          <p:cNvPr id="31" name="Text 28"/>
          <p:cNvSpPr txBox="1"/>
          <p:nvPr/>
        </p:nvSpPr>
        <p:spPr>
          <a:xfrm>
            <a:off x="457200" y="4343400"/>
            <a:ext cx="822960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Praktik terpadu di akhir mencakup keempat minggu sekaligus.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Benang merah: transfer learning</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a:t>
            </a:r>
            <a:endParaRPr lang="en-US" sz="900" dirty="0"/>
          </a:p>
        </p:txBody>
      </p:sp>
      <p:sp>
        <p:nvSpPr>
          <p:cNvPr id="6" name="Text 3"/>
          <p:cNvSpPr txBox="1"/>
          <p:nvPr/>
        </p:nvSpPr>
        <p:spPr>
          <a:xfrm>
            <a:off x="457200" y="1051560"/>
            <a:ext cx="8229600" cy="9144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Di pertemuan 3, ResNet-18 yang sudah belajar dari ImageNet disesuaikan untuk mengenali baut, mur, dan ring. Kita hanya mengganti bagian keluarannya (head) lalu melatihnya sebentar dengan data kita, dan hasilnya jauh lebih baik daripada melatih dari nol.</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897049523"/>
              </p:ext>
            </p:extLst>
          </p:nvPr>
        </p:nvGraphicFramePr>
        <p:xfrm>
          <a:off x="457200" y="1927974"/>
          <a:ext cx="8229600" cy="1097280"/>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74320">
                <a:tc>
                  <a:txBody>
                    <a:bodyPr/>
                    <a:lstStyle/>
                    <a:p>
                      <a:pPr marL="0" indent="0">
                        <a:buNone/>
                      </a:pP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Pertemuan 3</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Minggu 4–7</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27432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Model sumber</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ResNet-18 (ImageNet)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YOLO (COCO)</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Tugas</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klasifikasi</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deteksi objek</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Bagian yang disesuaikan</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head fc → jumlah kelas</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head deteksi → nc di data.yaml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137160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MINGGU 4</a:t>
            </a:r>
            <a:endParaRPr lang="en-US" sz="1400" dirty="0"/>
          </a:p>
        </p:txBody>
      </p:sp>
      <p:sp>
        <p:nvSpPr>
          <p:cNvPr id="4" name="Text 2"/>
          <p:cNvSpPr txBox="1"/>
          <p:nvPr/>
        </p:nvSpPr>
        <p:spPr>
          <a:xfrm>
            <a:off x="548640" y="1783080"/>
            <a:ext cx="8046720" cy="1005840"/>
          </a:xfrm>
          <a:prstGeom prst="rect">
            <a:avLst/>
          </a:prstGeom>
          <a:noFill/>
          <a:ln/>
        </p:spPr>
        <p:txBody>
          <a:bodyPr wrap="square" lIns="0" tIns="0" rIns="0" bIns="0" rtlCol="0" anchor="t"/>
          <a:lstStyle/>
          <a:p>
            <a:pPr marL="0" indent="0">
              <a:buNone/>
            </a:pPr>
            <a:r>
              <a:rPr lang="en-US" sz="3400" b="1" dirty="0">
                <a:solidFill>
                  <a:srgbClr val="16324F"/>
                </a:solidFill>
                <a:latin typeface="Arial" pitchFamily="34" charset="0"/>
                <a:ea typeface="Arial" pitchFamily="34" charset="-122"/>
                <a:cs typeface="Arial" pitchFamily="34" charset="-120"/>
              </a:rPr>
              <a:t>Preparasi data YOLO dan COCO</a:t>
            </a:r>
            <a:endParaRPr lang="en-US" sz="3400" dirty="0"/>
          </a:p>
        </p:txBody>
      </p:sp>
      <p:sp>
        <p:nvSpPr>
          <p:cNvPr id="5" name="Text 3"/>
          <p:cNvSpPr txBox="1"/>
          <p:nvPr/>
        </p:nvSpPr>
        <p:spPr>
          <a:xfrm>
            <a:off x="548640" y="2834640"/>
            <a:ext cx="8046720" cy="457200"/>
          </a:xfrm>
          <a:prstGeom prst="rect">
            <a:avLst/>
          </a:prstGeom>
          <a:noFill/>
          <a:ln/>
        </p:spPr>
        <p:txBody>
          <a:bodyPr wrap="square" lIns="0" tIns="0" rIns="0" bIns="0" rtlCol="0" anchor="ctr"/>
          <a:lstStyle/>
          <a:p>
            <a:pPr marL="0" indent="0">
              <a:buNone/>
            </a:pPr>
            <a:r>
              <a:rPr lang="en-US" sz="1500" dirty="0">
                <a:solidFill>
                  <a:srgbClr val="1D5C94"/>
                </a:solidFill>
                <a:latin typeface="Calibri" pitchFamily="34" charset="0"/>
                <a:ea typeface="Calibri" pitchFamily="34" charset="-122"/>
                <a:cs typeface="Calibri" pitchFamily="34" charset="-120"/>
              </a:rPr>
              <a:t>Ringkasan; detail lengkap ada di PPT pertemuan 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Bounding box dan dua format</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5</a:t>
            </a:r>
            <a:endParaRPr lang="en-US" sz="900" dirty="0"/>
          </a:p>
        </p:txBody>
      </p:sp>
      <p:sp>
        <p:nvSpPr>
          <p:cNvPr id="6" name="Text 3"/>
          <p:cNvSpPr txBox="1"/>
          <p:nvPr/>
        </p:nvSpPr>
        <p:spPr>
          <a:xfrm>
            <a:off x="457200" y="1051560"/>
            <a:ext cx="8229600" cy="11887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Deteksi objek membutuhkan satu label untuk setiap objek: nomor kelas dan kotak. Kotak yang sama bisa ditulis dengan beberapa cara. Format YOLO memakai titik tengah, lebar, dan tinggi yang dibagi ukuran gambar sehingga bernilai 0–1. Format COCO memakai pojok kiri atas, lebar, dan tinggi dalam piksel, dan menyimpan seluruh dataset dalam satu file JSON.</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164592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29184">
                <a:tc>
                  <a:txBody>
                    <a:bodyPr/>
                    <a:lstStyle/>
                    <a:p>
                      <a:pPr marL="0" indent="0">
                        <a:buNone/>
                      </a:pP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YOLO</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COCO</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Satu baris / entri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kelas cx cy w h</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{"bbox": [x, y, w, h], "category_id": …}</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Satuan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0 – 1</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piksel</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satu .txt per gambar</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satu .json untuk semua</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Nomor kelas</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mulai 0</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biasanya mulai 1</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457200" y="4069080"/>
            <a:ext cx="8229600" cy="548640"/>
          </a:xfrm>
          <a:prstGeom prst="rect">
            <a:avLst/>
          </a:prstGeom>
          <a:noFill/>
          <a:ln/>
        </p:spPr>
        <p:txBody>
          <a:bodyPr wrap="square" lIns="0" tIns="0" rIns="0" bIns="0" rtlCol="0" anchor="t"/>
          <a:lstStyle/>
          <a:p>
            <a:pPr marL="0" indent="0">
              <a:spcAft>
                <a:spcPts val="600"/>
              </a:spcAft>
              <a:buNone/>
            </a:pPr>
            <a:r>
              <a:rPr lang="en-US" sz="1250" dirty="0">
                <a:solidFill>
                  <a:srgbClr val="1D5C94"/>
                </a:solidFill>
                <a:latin typeface="Calibri" pitchFamily="34" charset="0"/>
                <a:ea typeface="Calibri" pitchFamily="34" charset="-122"/>
                <a:cs typeface="Calibri" pitchFamily="34" charset="-120"/>
              </a:rPr>
              <a:t>Label YOLO memakai titik tengah karena jaringan YOLO juga mengeluarkan kotak dalam bentuk itu, sehingga tebakan dan label bisa dibandingkan langsung saat pelatihan.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Struktur folder dan data.yaml</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6</a:t>
            </a:r>
            <a:endParaRPr lang="en-US" sz="900" dirty="0"/>
          </a:p>
        </p:txBody>
      </p:sp>
      <p:sp>
        <p:nvSpPr>
          <p:cNvPr id="6" name="Shape 3"/>
          <p:cNvSpPr/>
          <p:nvPr/>
        </p:nvSpPr>
        <p:spPr>
          <a:xfrm>
            <a:off x="457200" y="1051560"/>
            <a:ext cx="3291840" cy="2377440"/>
          </a:xfrm>
          <a:prstGeom prst="roundRect">
            <a:avLst>
              <a:gd name="adj" fmla="val 2308"/>
            </a:avLst>
          </a:prstGeom>
          <a:solidFill>
            <a:srgbClr val="18324D"/>
          </a:solidFill>
          <a:ln w="12700">
            <a:solidFill>
              <a:srgbClr val="18324D"/>
            </a:solidFill>
            <a:prstDash val="solid"/>
          </a:ln>
        </p:spPr>
      </p:sp>
      <p:sp>
        <p:nvSpPr>
          <p:cNvPr id="7" name="Text 4"/>
          <p:cNvSpPr txBox="1"/>
          <p:nvPr/>
        </p:nvSpPr>
        <p:spPr>
          <a:xfrm>
            <a:off x="594360" y="1143000"/>
            <a:ext cx="3017520" cy="219456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dataset_v1/</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data.yaml</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images/</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train/</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val/</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test/</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labels/</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train/</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val/</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test/</a:t>
            </a:r>
            <a:endParaRPr lang="en-US" sz="1100" dirty="0"/>
          </a:p>
        </p:txBody>
      </p:sp>
      <p:sp>
        <p:nvSpPr>
          <p:cNvPr id="8" name="Shape 5"/>
          <p:cNvSpPr/>
          <p:nvPr/>
        </p:nvSpPr>
        <p:spPr>
          <a:xfrm>
            <a:off x="457200" y="3520440"/>
            <a:ext cx="3291840" cy="1051560"/>
          </a:xfrm>
          <a:prstGeom prst="roundRect">
            <a:avLst>
              <a:gd name="adj" fmla="val 5217"/>
            </a:avLst>
          </a:prstGeom>
          <a:solidFill>
            <a:srgbClr val="18324D"/>
          </a:solidFill>
          <a:ln w="12700">
            <a:solidFill>
              <a:srgbClr val="18324D"/>
            </a:solidFill>
            <a:prstDash val="solid"/>
          </a:ln>
        </p:spPr>
      </p:sp>
      <p:sp>
        <p:nvSpPr>
          <p:cNvPr id="9" name="Text 6"/>
          <p:cNvSpPr txBox="1"/>
          <p:nvPr/>
        </p:nvSpPr>
        <p:spPr>
          <a:xfrm>
            <a:off x="594360" y="3611880"/>
            <a:ext cx="3017520" cy="86868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names:</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0: person</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1: car</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2: cup</a:t>
            </a:r>
            <a:endParaRPr lang="en-US" sz="1100" dirty="0"/>
          </a:p>
        </p:txBody>
      </p:sp>
      <p:sp>
        <p:nvSpPr>
          <p:cNvPr id="10" name="Text 7"/>
          <p:cNvSpPr txBox="1"/>
          <p:nvPr/>
        </p:nvSpPr>
        <p:spPr>
          <a:xfrm>
            <a:off x="4096512" y="1865876"/>
            <a:ext cx="4663440" cy="128016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YOLO menemukan file label dengan mengganti /images/ menjadi /labels/ pada jalur gambar. Karena itu nama folder harus tepat, dan setiap gambar harus punya file label bernama sama.</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Mengapa COCO, dan apakah harus COCO?</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7</a:t>
            </a:r>
            <a:endParaRPr lang="en-US" sz="900" dirty="0"/>
          </a:p>
        </p:txBody>
      </p:sp>
      <p:sp>
        <p:nvSpPr>
          <p:cNvPr id="6" name="Text 3"/>
          <p:cNvSpPr txBox="1"/>
          <p:nvPr/>
        </p:nvSpPr>
        <p:spPr>
          <a:xfrm>
            <a:off x="457200" y="1051560"/>
            <a:ext cx="8229600" cy="11887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ImageNet dirancang </a:t>
            </a:r>
            <a:r>
              <a:rPr lang="en-US" sz="1350" dirty="0">
                <a:solidFill>
                  <a:srgbClr val="FF0000"/>
                </a:solidFill>
                <a:latin typeface="Calibri" pitchFamily="34" charset="0"/>
                <a:ea typeface="Calibri" pitchFamily="34" charset="-122"/>
                <a:cs typeface="Calibri" pitchFamily="34" charset="-120"/>
              </a:rPr>
              <a:t>untuk klasifikasi</a:t>
            </a:r>
            <a:r>
              <a:rPr lang="en-US" sz="1350" dirty="0">
                <a:solidFill>
                  <a:srgbClr val="1F2D3A"/>
                </a:solidFill>
                <a:latin typeface="Calibri" pitchFamily="34" charset="0"/>
                <a:ea typeface="Calibri" pitchFamily="34" charset="-122"/>
                <a:cs typeface="Calibri" pitchFamily="34" charset="-120"/>
              </a:rPr>
              <a:t>: satu label untuk satu gambar. COCO dirancang </a:t>
            </a:r>
            <a:r>
              <a:rPr lang="en-US" sz="1350" dirty="0">
                <a:solidFill>
                  <a:srgbClr val="FF0000"/>
                </a:solidFill>
                <a:latin typeface="Calibri" pitchFamily="34" charset="0"/>
                <a:ea typeface="Calibri" pitchFamily="34" charset="-122"/>
                <a:cs typeface="Calibri" pitchFamily="34" charset="-120"/>
              </a:rPr>
              <a:t>untuk deteksi</a:t>
            </a:r>
            <a:r>
              <a:rPr lang="en-US" sz="1350" dirty="0">
                <a:solidFill>
                  <a:srgbClr val="1F2D3A"/>
                </a:solidFill>
                <a:latin typeface="Calibri" pitchFamily="34" charset="0"/>
                <a:ea typeface="Calibri" pitchFamily="34" charset="-122"/>
                <a:cs typeface="Calibri" pitchFamily="34" charset="-120"/>
              </a:rPr>
              <a:t>: banyak objek per gambar, masing-masing diberi kotak, dalam adegan sehari-hari yang ramai. Model YOLO pretrained dilatih dengan COCO, jadi untuk deteksi kita </a:t>
            </a:r>
            <a:r>
              <a:rPr lang="en-US" sz="1350" dirty="0" err="1">
                <a:solidFill>
                  <a:srgbClr val="1F2D3A"/>
                </a:solidFill>
                <a:latin typeface="Calibri" pitchFamily="34" charset="0"/>
                <a:ea typeface="Calibri" pitchFamily="34" charset="-122"/>
                <a:cs typeface="Calibri" pitchFamily="34" charset="-120"/>
              </a:rPr>
              <a:t>memakai</a:t>
            </a:r>
            <a:r>
              <a:rPr lang="en-US" sz="1350" dirty="0">
                <a:solidFill>
                  <a:srgbClr val="1F2D3A"/>
                </a:solidFill>
                <a:latin typeface="Calibri" pitchFamily="34" charset="0"/>
                <a:ea typeface="Calibri" pitchFamily="34" charset="-122"/>
                <a:cs typeface="Calibri" pitchFamily="34" charset="-120"/>
              </a:rPr>
              <a:t> COCO.</a:t>
            </a:r>
            <a:endParaRPr lang="en-US" sz="1350" dirty="0"/>
          </a:p>
        </p:txBody>
      </p:sp>
      <p:sp>
        <p:nvSpPr>
          <p:cNvPr id="7" name="Text 4"/>
          <p:cNvSpPr txBox="1"/>
          <p:nvPr/>
        </p:nvSpPr>
        <p:spPr>
          <a:xfrm>
            <a:off x="457200" y="2286000"/>
            <a:ext cx="8229600" cy="146304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COCO tidak wajib. Di praktik ini COCO dipakai karena anotasinya sudah tersedia dan berkualitas, sehingga mahasiswa bisa fokus pada alur kerjanya. Untuk projek nyata, data ditentukan oleh objek yang ingin dideteksi. Jika objeknya tidak ada di COCO, </a:t>
            </a:r>
            <a:r>
              <a:rPr lang="en-US" sz="1350" dirty="0" err="1">
                <a:solidFill>
                  <a:srgbClr val="1F2D3A"/>
                </a:solidFill>
                <a:latin typeface="Calibri" pitchFamily="34" charset="0"/>
                <a:ea typeface="Calibri" pitchFamily="34" charset="-122"/>
                <a:cs typeface="Calibri" pitchFamily="34" charset="-120"/>
              </a:rPr>
              <a:t>misalnya</a:t>
            </a:r>
            <a:r>
              <a:rPr lang="en-US" sz="1350" dirty="0">
                <a:solidFill>
                  <a:srgbClr val="1F2D3A"/>
                </a:solidFill>
                <a:latin typeface="Calibri" pitchFamily="34" charset="0"/>
                <a:ea typeface="Calibri" pitchFamily="34" charset="-122"/>
                <a:cs typeface="Calibri" pitchFamily="34" charset="-120"/>
              </a:rPr>
              <a:t> “</a:t>
            </a:r>
            <a:r>
              <a:rPr lang="en-US" sz="1350" dirty="0" err="1">
                <a:solidFill>
                  <a:srgbClr val="1F2D3A"/>
                </a:solidFill>
                <a:latin typeface="Calibri" pitchFamily="34" charset="0"/>
                <a:ea typeface="Calibri" pitchFamily="34" charset="-122"/>
                <a:cs typeface="Calibri" pitchFamily="34" charset="-120"/>
              </a:rPr>
              <a:t>jalan</a:t>
            </a:r>
            <a:r>
              <a:rPr lang="en-US" sz="1350" dirty="0">
                <a:solidFill>
                  <a:srgbClr val="1F2D3A"/>
                </a:solidFill>
                <a:latin typeface="Calibri" pitchFamily="34" charset="0"/>
                <a:ea typeface="Calibri" pitchFamily="34" charset="-122"/>
                <a:cs typeface="Calibri" pitchFamily="34" charset="-120"/>
              </a:rPr>
              <a:t> </a:t>
            </a:r>
            <a:r>
              <a:rPr lang="en-US" sz="1350" dirty="0" err="1">
                <a:solidFill>
                  <a:srgbClr val="1F2D3A"/>
                </a:solidFill>
                <a:latin typeface="Calibri" pitchFamily="34" charset="0"/>
                <a:ea typeface="Calibri" pitchFamily="34" charset="-122"/>
                <a:cs typeface="Calibri" pitchFamily="34" charset="-120"/>
              </a:rPr>
              <a:t>berlubang</a:t>
            </a:r>
            <a:r>
              <a:rPr lang="en-US" sz="1350" dirty="0">
                <a:solidFill>
                  <a:srgbClr val="1F2D3A"/>
                </a:solidFill>
                <a:latin typeface="Calibri" pitchFamily="34" charset="0"/>
                <a:ea typeface="Calibri" pitchFamily="34" charset="-122"/>
                <a:cs typeface="Calibri" pitchFamily="34" charset="-120"/>
              </a:rPr>
              <a:t>”, dibutuhkan dataset lain atau data sendiri, dengan alur program yang sama mulai dari pemeriksaan format.</a:t>
            </a:r>
            <a:endParaRPr lang="en-US" sz="1350" dirty="0"/>
          </a:p>
        </p:txBody>
      </p:sp>
      <p:sp>
        <p:nvSpPr>
          <p:cNvPr id="8" name="Shape 5"/>
          <p:cNvSpPr/>
          <p:nvPr/>
        </p:nvSpPr>
        <p:spPr>
          <a:xfrm>
            <a:off x="457200" y="3840480"/>
            <a:ext cx="8229600" cy="731520"/>
          </a:xfrm>
          <a:prstGeom prst="roundRect">
            <a:avLst>
              <a:gd name="adj" fmla="val 1000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9" name="Text 6"/>
          <p:cNvSpPr txBox="1"/>
          <p:nvPr/>
        </p:nvSpPr>
        <p:spPr>
          <a:xfrm>
            <a:off x="621792" y="3840480"/>
            <a:ext cx="7900416" cy="731520"/>
          </a:xfrm>
          <a:prstGeom prst="rect">
            <a:avLst/>
          </a:prstGeom>
          <a:noFill/>
          <a:ln/>
        </p:spPr>
        <p:txBody>
          <a:bodyPr wrap="square" lIns="0" tIns="0" rIns="0" bIns="0" rtlCol="0" anchor="ctr"/>
          <a:lstStyle/>
          <a:p>
            <a:pPr marL="0" indent="0">
              <a:buNone/>
            </a:pPr>
            <a:r>
              <a:rPr lang="en-US" sz="1250" dirty="0">
                <a:solidFill>
                  <a:srgbClr val="1F2D3A"/>
                </a:solidFill>
                <a:latin typeface="Calibri" pitchFamily="34" charset="0"/>
                <a:ea typeface="Calibri" pitchFamily="34" charset="-122"/>
                <a:cs typeface="Calibri" pitchFamily="34" charset="-120"/>
              </a:rPr>
              <a:t>COCO: 330 ribu gambar, 200 ribu beranotasi, 80 kelas. train2017 118.287 gambar, val2017 5.000 gambar.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137160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MINGGU 5</a:t>
            </a:r>
            <a:endParaRPr lang="en-US" sz="1400" dirty="0"/>
          </a:p>
        </p:txBody>
      </p:sp>
      <p:sp>
        <p:nvSpPr>
          <p:cNvPr id="4" name="Text 2"/>
          <p:cNvSpPr txBox="1"/>
          <p:nvPr/>
        </p:nvSpPr>
        <p:spPr>
          <a:xfrm>
            <a:off x="548640" y="1783080"/>
            <a:ext cx="8046720" cy="1005840"/>
          </a:xfrm>
          <a:prstGeom prst="rect">
            <a:avLst/>
          </a:prstGeom>
          <a:noFill/>
          <a:ln/>
        </p:spPr>
        <p:txBody>
          <a:bodyPr wrap="square" lIns="0" tIns="0" rIns="0" bIns="0" rtlCol="0" anchor="t"/>
          <a:lstStyle/>
          <a:p>
            <a:pPr marL="0" indent="0">
              <a:buNone/>
            </a:pPr>
            <a:r>
              <a:rPr lang="en-US" sz="3400" b="1" dirty="0">
                <a:solidFill>
                  <a:srgbClr val="16324F"/>
                </a:solidFill>
                <a:latin typeface="Arial" pitchFamily="34" charset="0"/>
                <a:ea typeface="Arial" pitchFamily="34" charset="-122"/>
                <a:cs typeface="Arial" pitchFamily="34" charset="-120"/>
              </a:rPr>
              <a:t>Augmentasi dan manajemen dataset</a:t>
            </a:r>
            <a:endParaRPr lang="en-US" sz="3400" dirty="0"/>
          </a:p>
        </p:txBody>
      </p:sp>
      <p:sp>
        <p:nvSpPr>
          <p:cNvPr id="5" name="Text 3"/>
          <p:cNvSpPr txBox="1"/>
          <p:nvPr/>
        </p:nvSpPr>
        <p:spPr>
          <a:xfrm>
            <a:off x="548640" y="2834640"/>
            <a:ext cx="8046720" cy="457200"/>
          </a:xfrm>
          <a:prstGeom prst="rect">
            <a:avLst/>
          </a:prstGeom>
          <a:noFill/>
          <a:ln/>
        </p:spPr>
        <p:txBody>
          <a:bodyPr wrap="square" lIns="0" tIns="0" rIns="0" bIns="0" rtlCol="0" anchor="ctr"/>
          <a:lstStyle/>
          <a:p>
            <a:pPr marL="0" indent="0">
              <a:buNone/>
            </a:pPr>
            <a:r>
              <a:rPr lang="en-US" sz="1500" dirty="0">
                <a:solidFill>
                  <a:srgbClr val="1D5C94"/>
                </a:solidFill>
                <a:latin typeface="Calibri" pitchFamily="34" charset="0"/>
                <a:ea typeface="Calibri" pitchFamily="34" charset="-122"/>
                <a:cs typeface="Calibri" pitchFamily="34" charset="-120"/>
              </a:rPr>
              <a:t>Membuat data cukup bervariasi dan evaluasi tetap jujur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Mengapa perlu augmentasi?</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9</a:t>
            </a:r>
            <a:endParaRPr lang="en-US" sz="900" dirty="0"/>
          </a:p>
        </p:txBody>
      </p:sp>
      <p:sp>
        <p:nvSpPr>
          <p:cNvPr id="6" name="Shape 3"/>
          <p:cNvSpPr/>
          <p:nvPr/>
        </p:nvSpPr>
        <p:spPr>
          <a:xfrm>
            <a:off x="457200" y="1051560"/>
            <a:ext cx="2194560" cy="2926080"/>
          </a:xfrm>
          <a:prstGeom prst="rect">
            <a:avLst/>
          </a:prstGeom>
          <a:solidFill>
            <a:srgbClr val="FFFFFF"/>
          </a:solidFill>
          <a:ln w="9525">
            <a:solidFill>
              <a:srgbClr val="C7E0F4"/>
            </a:solidFill>
            <a:prstDash val="solid"/>
          </a:ln>
        </p:spPr>
      </p:sp>
      <p:pic>
        <p:nvPicPr>
          <p:cNvPr id="7" name="Image 0" descr="/home/claude/w4ppt/img/aug_asli.jpg"/>
          <p:cNvPicPr>
            <a:picLocks noChangeAspect="1"/>
          </p:cNvPicPr>
          <p:nvPr/>
        </p:nvPicPr>
        <p:blipFill>
          <a:blip r:embed="rId3"/>
          <a:stretch>
            <a:fillRect/>
          </a:stretch>
        </p:blipFill>
        <p:spPr>
          <a:xfrm>
            <a:off x="457200" y="1051560"/>
            <a:ext cx="2194560" cy="2926080"/>
          </a:xfrm>
          <a:prstGeom prst="rect">
            <a:avLst/>
          </a:prstGeom>
        </p:spPr>
      </p:pic>
      <p:sp>
        <p:nvSpPr>
          <p:cNvPr id="8" name="Text 4"/>
          <p:cNvSpPr txBox="1"/>
          <p:nvPr/>
        </p:nvSpPr>
        <p:spPr>
          <a:xfrm>
            <a:off x="457200" y="4023360"/>
            <a:ext cx="219456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Gambar asli COCO dengan kotak</a:t>
            </a:r>
            <a:endParaRPr lang="en-US" sz="900" dirty="0"/>
          </a:p>
        </p:txBody>
      </p:sp>
      <p:sp>
        <p:nvSpPr>
          <p:cNvPr id="9" name="Text 5"/>
          <p:cNvSpPr txBox="1"/>
          <p:nvPr/>
        </p:nvSpPr>
        <p:spPr>
          <a:xfrm>
            <a:off x="2926080" y="1051560"/>
            <a:ext cx="5760720" cy="11887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Dataset projek biasanya hanya ratusan gambar, dan sering diambil dalam kondisi yang mirip: cahaya yang sama, sudut yang sama, latar yang sama. Model yang hanya melihat variasi sesempit itu mudah menghafal dan gagal saat kondisinya sedikit berbeda.</a:t>
            </a:r>
            <a:endParaRPr lang="en-US" sz="1350" dirty="0"/>
          </a:p>
        </p:txBody>
      </p:sp>
      <p:sp>
        <p:nvSpPr>
          <p:cNvPr id="10" name="Text 6"/>
          <p:cNvSpPr txBox="1"/>
          <p:nvPr/>
        </p:nvSpPr>
        <p:spPr>
          <a:xfrm>
            <a:off x="2926080" y="2286000"/>
            <a:ext cx="5760720" cy="18288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Augmentasi membuat variasi baru dari gambar yang sudah ada, misalnya </a:t>
            </a:r>
            <a:r>
              <a:rPr lang="en-US" sz="1350" dirty="0">
                <a:solidFill>
                  <a:srgbClr val="FF0000"/>
                </a:solidFill>
                <a:latin typeface="Calibri" pitchFamily="34" charset="0"/>
                <a:ea typeface="Calibri" pitchFamily="34" charset="-122"/>
                <a:cs typeface="Calibri" pitchFamily="34" charset="-120"/>
              </a:rPr>
              <a:t>dibalik, digeser, diperbesar</a:t>
            </a:r>
            <a:r>
              <a:rPr lang="en-US" sz="1350" dirty="0">
                <a:solidFill>
                  <a:srgbClr val="1F2D3A"/>
                </a:solidFill>
                <a:latin typeface="Calibri" pitchFamily="34" charset="0"/>
                <a:ea typeface="Calibri" pitchFamily="34" charset="-122"/>
                <a:cs typeface="Calibri" pitchFamily="34" charset="-120"/>
              </a:rPr>
              <a:t>, atau diubah kecerahannya, tanpa harus memotret ulang. Tujuannya bukan sekadar memperbanyak gambar, tetapi </a:t>
            </a:r>
            <a:r>
              <a:rPr lang="en-US" sz="1350" dirty="0">
                <a:solidFill>
                  <a:srgbClr val="FF0000"/>
                </a:solidFill>
                <a:latin typeface="Calibri" pitchFamily="34" charset="0"/>
                <a:ea typeface="Calibri" pitchFamily="34" charset="-122"/>
                <a:cs typeface="Calibri" pitchFamily="34" charset="-120"/>
              </a:rPr>
              <a:t>meniru variasi yang benar-benar akan ditemui model saat dipakai</a:t>
            </a:r>
            <a:r>
              <a:rPr lang="en-US" sz="1350" dirty="0">
                <a:solidFill>
                  <a:srgbClr val="1F2D3A"/>
                </a:solidFill>
                <a:latin typeface="Calibri" pitchFamily="34" charset="0"/>
                <a:ea typeface="Calibri" pitchFamily="34" charset="-122"/>
                <a:cs typeface="Calibri" pitchFamily="34" charset="-120"/>
              </a:rPr>
              <a:t>. Ada dua kelompok besar: </a:t>
            </a:r>
            <a:r>
              <a:rPr lang="en-US" sz="1350" dirty="0" err="1">
                <a:solidFill>
                  <a:srgbClr val="FF0000"/>
                </a:solidFill>
                <a:latin typeface="Calibri" pitchFamily="34" charset="0"/>
                <a:ea typeface="Calibri" pitchFamily="34" charset="-122"/>
                <a:cs typeface="Calibri" pitchFamily="34" charset="-120"/>
              </a:rPr>
              <a:t>augmentasi</a:t>
            </a:r>
            <a:r>
              <a:rPr lang="en-US" sz="1350" dirty="0">
                <a:solidFill>
                  <a:srgbClr val="FF0000"/>
                </a:solidFill>
                <a:latin typeface="Calibri" pitchFamily="34" charset="0"/>
                <a:ea typeface="Calibri" pitchFamily="34" charset="-122"/>
                <a:cs typeface="Calibri" pitchFamily="34" charset="-120"/>
              </a:rPr>
              <a:t> </a:t>
            </a:r>
            <a:r>
              <a:rPr lang="en-US" sz="1350" dirty="0" err="1">
                <a:solidFill>
                  <a:srgbClr val="FF0000"/>
                </a:solidFill>
                <a:latin typeface="Calibri" pitchFamily="34" charset="0"/>
                <a:ea typeface="Calibri" pitchFamily="34" charset="-122"/>
                <a:cs typeface="Calibri" pitchFamily="34" charset="-120"/>
              </a:rPr>
              <a:t>geometri</a:t>
            </a:r>
            <a:r>
              <a:rPr lang="en-US" sz="1350" dirty="0">
                <a:solidFill>
                  <a:srgbClr val="FF0000"/>
                </a:solidFill>
                <a:latin typeface="Calibri" pitchFamily="34" charset="0"/>
                <a:ea typeface="Calibri" pitchFamily="34" charset="-122"/>
                <a:cs typeface="Calibri" pitchFamily="34" charset="-120"/>
              </a:rPr>
              <a:t> </a:t>
            </a:r>
            <a:r>
              <a:rPr lang="en-US" sz="1350" dirty="0">
                <a:solidFill>
                  <a:srgbClr val="1F2D3A"/>
                </a:solidFill>
                <a:latin typeface="Calibri" pitchFamily="34" charset="0"/>
                <a:ea typeface="Calibri" pitchFamily="34" charset="-122"/>
                <a:cs typeface="Calibri" pitchFamily="34" charset="-120"/>
              </a:rPr>
              <a:t>yang mengubah posisi piksel, dan </a:t>
            </a:r>
            <a:r>
              <a:rPr lang="en-US" sz="1350" dirty="0" err="1">
                <a:solidFill>
                  <a:srgbClr val="FF0000"/>
                </a:solidFill>
                <a:latin typeface="Calibri" pitchFamily="34" charset="0"/>
                <a:ea typeface="Calibri" pitchFamily="34" charset="-122"/>
                <a:cs typeface="Calibri" pitchFamily="34" charset="-120"/>
              </a:rPr>
              <a:t>augmentasi</a:t>
            </a:r>
            <a:r>
              <a:rPr lang="en-US" sz="1350" dirty="0">
                <a:solidFill>
                  <a:srgbClr val="FF0000"/>
                </a:solidFill>
                <a:latin typeface="Calibri" pitchFamily="34" charset="0"/>
                <a:ea typeface="Calibri" pitchFamily="34" charset="-122"/>
                <a:cs typeface="Calibri" pitchFamily="34" charset="-120"/>
              </a:rPr>
              <a:t> </a:t>
            </a:r>
            <a:r>
              <a:rPr lang="en-US" sz="1350" dirty="0" err="1">
                <a:solidFill>
                  <a:srgbClr val="FF0000"/>
                </a:solidFill>
                <a:latin typeface="Calibri" pitchFamily="34" charset="0"/>
                <a:ea typeface="Calibri" pitchFamily="34" charset="-122"/>
                <a:cs typeface="Calibri" pitchFamily="34" charset="-120"/>
              </a:rPr>
              <a:t>warna</a:t>
            </a:r>
            <a:r>
              <a:rPr lang="en-US" sz="1350" dirty="0">
                <a:solidFill>
                  <a:srgbClr val="FF0000"/>
                </a:solidFill>
                <a:latin typeface="Calibri" pitchFamily="34" charset="0"/>
                <a:ea typeface="Calibri" pitchFamily="34" charset="-122"/>
                <a:cs typeface="Calibri" pitchFamily="34" charset="-120"/>
              </a:rPr>
              <a:t> </a:t>
            </a:r>
            <a:r>
              <a:rPr lang="en-US" sz="1350" dirty="0">
                <a:solidFill>
                  <a:srgbClr val="1F2D3A"/>
                </a:solidFill>
                <a:latin typeface="Calibri" pitchFamily="34" charset="0"/>
                <a:ea typeface="Calibri" pitchFamily="34" charset="-122"/>
                <a:cs typeface="Calibri" pitchFamily="34" charset="-120"/>
              </a:rPr>
              <a:t>yang hanya mengubah nilai piksel.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Augmentasi geometri: kotak ikut berubah</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10</a:t>
            </a:r>
            <a:endParaRPr lang="en-US" sz="900" dirty="0"/>
          </a:p>
        </p:txBody>
      </p:sp>
      <p:sp>
        <p:nvSpPr>
          <p:cNvPr id="6" name="Shape 3"/>
          <p:cNvSpPr/>
          <p:nvPr/>
        </p:nvSpPr>
        <p:spPr>
          <a:xfrm>
            <a:off x="457200" y="1051560"/>
            <a:ext cx="2103120" cy="2804160"/>
          </a:xfrm>
          <a:prstGeom prst="rect">
            <a:avLst/>
          </a:prstGeom>
          <a:solidFill>
            <a:srgbClr val="FFFFFF"/>
          </a:solidFill>
          <a:ln w="9525">
            <a:solidFill>
              <a:srgbClr val="C7E0F4"/>
            </a:solidFill>
            <a:prstDash val="solid"/>
          </a:ln>
        </p:spPr>
      </p:sp>
      <p:pic>
        <p:nvPicPr>
          <p:cNvPr id="7" name="Image 0" descr="/home/claude/w4ppt/img/aug_asli.jpg"/>
          <p:cNvPicPr>
            <a:picLocks noChangeAspect="1"/>
          </p:cNvPicPr>
          <p:nvPr/>
        </p:nvPicPr>
        <p:blipFill>
          <a:blip r:embed="rId3"/>
          <a:stretch>
            <a:fillRect/>
          </a:stretch>
        </p:blipFill>
        <p:spPr>
          <a:xfrm>
            <a:off x="457200" y="1051560"/>
            <a:ext cx="2103120" cy="2804160"/>
          </a:xfrm>
          <a:prstGeom prst="rect">
            <a:avLst/>
          </a:prstGeom>
        </p:spPr>
      </p:pic>
      <p:sp>
        <p:nvSpPr>
          <p:cNvPr id="8" name="Text 4"/>
          <p:cNvSpPr txBox="1"/>
          <p:nvPr/>
        </p:nvSpPr>
        <p:spPr>
          <a:xfrm>
            <a:off x="457200" y="3901440"/>
            <a:ext cx="210312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Asli</a:t>
            </a:r>
            <a:endParaRPr lang="en-US" sz="900" dirty="0"/>
          </a:p>
        </p:txBody>
      </p:sp>
      <p:sp>
        <p:nvSpPr>
          <p:cNvPr id="9" name="Shape 5"/>
          <p:cNvSpPr/>
          <p:nvPr/>
        </p:nvSpPr>
        <p:spPr>
          <a:xfrm>
            <a:off x="2743200" y="1051560"/>
            <a:ext cx="2103120" cy="2804160"/>
          </a:xfrm>
          <a:prstGeom prst="rect">
            <a:avLst/>
          </a:prstGeom>
          <a:solidFill>
            <a:srgbClr val="FFFFFF"/>
          </a:solidFill>
          <a:ln w="9525">
            <a:solidFill>
              <a:srgbClr val="C7E0F4"/>
            </a:solidFill>
            <a:prstDash val="solid"/>
          </a:ln>
        </p:spPr>
      </p:sp>
      <p:pic>
        <p:nvPicPr>
          <p:cNvPr id="10" name="Image 1" descr="/home/claude/w4ppt/img/aug_flip.jpg"/>
          <p:cNvPicPr>
            <a:picLocks noChangeAspect="1"/>
          </p:cNvPicPr>
          <p:nvPr/>
        </p:nvPicPr>
        <p:blipFill>
          <a:blip r:embed="rId4"/>
          <a:stretch>
            <a:fillRect/>
          </a:stretch>
        </p:blipFill>
        <p:spPr>
          <a:xfrm>
            <a:off x="2743200" y="1051560"/>
            <a:ext cx="2103120" cy="2804160"/>
          </a:xfrm>
          <a:prstGeom prst="rect">
            <a:avLst/>
          </a:prstGeom>
        </p:spPr>
      </p:pic>
      <p:sp>
        <p:nvSpPr>
          <p:cNvPr id="11" name="Text 6"/>
          <p:cNvSpPr txBox="1"/>
          <p:nvPr/>
        </p:nvSpPr>
        <p:spPr>
          <a:xfrm>
            <a:off x="2743200" y="3901440"/>
            <a:ext cx="210312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Dibalik kiri-kanan</a:t>
            </a:r>
            <a:endParaRPr lang="en-US" sz="900" dirty="0"/>
          </a:p>
        </p:txBody>
      </p:sp>
      <p:sp>
        <p:nvSpPr>
          <p:cNvPr id="12" name="Text 7"/>
          <p:cNvSpPr txBox="1"/>
          <p:nvPr/>
        </p:nvSpPr>
        <p:spPr>
          <a:xfrm>
            <a:off x="5120640" y="1051560"/>
            <a:ext cx="3566160" cy="219456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Saat gambar dibalik, digeser, atau diputar, posisi objek ikut berubah, jadi kotaknya harus dihitung ulang. Untuk flip kiri-kanan, rumusnya sederhana: titik tengah x yang baru adalah 1 − cx, sedangkan cy, lebar, dan tinggi tetap. Perhatikan pada gambar: kotak payung dan orang ikut berpindah ke sisi seberang.</a:t>
            </a:r>
            <a:endParaRPr lang="en-US" sz="1300" dirty="0"/>
          </a:p>
        </p:txBody>
      </p:sp>
      <p:sp>
        <p:nvSpPr>
          <p:cNvPr id="13" name="Shape 8"/>
          <p:cNvSpPr/>
          <p:nvPr/>
        </p:nvSpPr>
        <p:spPr>
          <a:xfrm>
            <a:off x="5120640" y="3291840"/>
            <a:ext cx="3566160" cy="685800"/>
          </a:xfrm>
          <a:prstGeom prst="roundRect">
            <a:avLst>
              <a:gd name="adj" fmla="val 8000"/>
            </a:avLst>
          </a:prstGeom>
          <a:solidFill>
            <a:srgbClr val="18324D"/>
          </a:solidFill>
          <a:ln w="12700">
            <a:solidFill>
              <a:srgbClr val="18324D"/>
            </a:solidFill>
            <a:prstDash val="solid"/>
          </a:ln>
        </p:spPr>
      </p:sp>
      <p:sp>
        <p:nvSpPr>
          <p:cNvPr id="14" name="Text 9"/>
          <p:cNvSpPr txBox="1"/>
          <p:nvPr/>
        </p:nvSpPr>
        <p:spPr>
          <a:xfrm>
            <a:off x="5257800" y="3383280"/>
            <a:ext cx="3291840" cy="50292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 flip kiri-kanan pada label YOLO</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cx_baru = 1 - cx</a:t>
            </a:r>
            <a:endParaRPr lang="en-US" sz="1100" dirty="0"/>
          </a:p>
        </p:txBody>
      </p:sp>
      <p:sp>
        <p:nvSpPr>
          <p:cNvPr id="15" name="Text 10"/>
          <p:cNvSpPr txBox="1"/>
          <p:nvPr/>
        </p:nvSpPr>
        <p:spPr>
          <a:xfrm>
            <a:off x="457200" y="4160520"/>
            <a:ext cx="822960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Dibuat dari gambar COCO 000000000036; kotak dihitung ulang dengan rumus di atas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Augmentasi warna: kotak tetap</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11</a:t>
            </a:r>
            <a:endParaRPr lang="en-US" sz="900" dirty="0"/>
          </a:p>
        </p:txBody>
      </p:sp>
      <p:sp>
        <p:nvSpPr>
          <p:cNvPr id="6" name="Shape 3"/>
          <p:cNvSpPr/>
          <p:nvPr/>
        </p:nvSpPr>
        <p:spPr>
          <a:xfrm>
            <a:off x="457200" y="1051560"/>
            <a:ext cx="2103120" cy="2804160"/>
          </a:xfrm>
          <a:prstGeom prst="rect">
            <a:avLst/>
          </a:prstGeom>
          <a:solidFill>
            <a:srgbClr val="FFFFFF"/>
          </a:solidFill>
          <a:ln w="9525">
            <a:solidFill>
              <a:srgbClr val="C7E0F4"/>
            </a:solidFill>
            <a:prstDash val="solid"/>
          </a:ln>
        </p:spPr>
      </p:sp>
      <p:pic>
        <p:nvPicPr>
          <p:cNvPr id="7" name="Image 0" descr="/home/claude/w4ppt/img/aug_asli.jpg"/>
          <p:cNvPicPr>
            <a:picLocks noChangeAspect="1"/>
          </p:cNvPicPr>
          <p:nvPr/>
        </p:nvPicPr>
        <p:blipFill>
          <a:blip r:embed="rId3"/>
          <a:stretch>
            <a:fillRect/>
          </a:stretch>
        </p:blipFill>
        <p:spPr>
          <a:xfrm>
            <a:off x="457200" y="1051560"/>
            <a:ext cx="2103120" cy="2804160"/>
          </a:xfrm>
          <a:prstGeom prst="rect">
            <a:avLst/>
          </a:prstGeom>
        </p:spPr>
      </p:pic>
      <p:sp>
        <p:nvSpPr>
          <p:cNvPr id="8" name="Text 4"/>
          <p:cNvSpPr txBox="1"/>
          <p:nvPr/>
        </p:nvSpPr>
        <p:spPr>
          <a:xfrm>
            <a:off x="457200" y="3901440"/>
            <a:ext cx="210312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Asli</a:t>
            </a:r>
            <a:endParaRPr lang="en-US" sz="900" dirty="0"/>
          </a:p>
        </p:txBody>
      </p:sp>
      <p:sp>
        <p:nvSpPr>
          <p:cNvPr id="9" name="Shape 5"/>
          <p:cNvSpPr/>
          <p:nvPr/>
        </p:nvSpPr>
        <p:spPr>
          <a:xfrm>
            <a:off x="2743200" y="1051560"/>
            <a:ext cx="2103120" cy="2804160"/>
          </a:xfrm>
          <a:prstGeom prst="rect">
            <a:avLst/>
          </a:prstGeom>
          <a:solidFill>
            <a:srgbClr val="FFFFFF"/>
          </a:solidFill>
          <a:ln w="9525">
            <a:solidFill>
              <a:srgbClr val="C7E0F4"/>
            </a:solidFill>
            <a:prstDash val="solid"/>
          </a:ln>
        </p:spPr>
      </p:sp>
      <p:pic>
        <p:nvPicPr>
          <p:cNvPr id="10" name="Image 1" descr="/home/claude/w4ppt/img/aug_redup.jpg"/>
          <p:cNvPicPr>
            <a:picLocks noChangeAspect="1"/>
          </p:cNvPicPr>
          <p:nvPr/>
        </p:nvPicPr>
        <p:blipFill>
          <a:blip r:embed="rId4"/>
          <a:stretch>
            <a:fillRect/>
          </a:stretch>
        </p:blipFill>
        <p:spPr>
          <a:xfrm>
            <a:off x="2743200" y="1051560"/>
            <a:ext cx="2103120" cy="2804160"/>
          </a:xfrm>
          <a:prstGeom prst="rect">
            <a:avLst/>
          </a:prstGeom>
        </p:spPr>
      </p:pic>
      <p:sp>
        <p:nvSpPr>
          <p:cNvPr id="11" name="Text 6"/>
          <p:cNvSpPr txBox="1"/>
          <p:nvPr/>
        </p:nvSpPr>
        <p:spPr>
          <a:xfrm>
            <a:off x="2743200" y="3901440"/>
            <a:ext cx="210312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Lebih redup dan jenuh</a:t>
            </a:r>
            <a:endParaRPr lang="en-US" sz="900" dirty="0"/>
          </a:p>
        </p:txBody>
      </p:sp>
      <p:sp>
        <p:nvSpPr>
          <p:cNvPr id="12" name="Text 7"/>
          <p:cNvSpPr txBox="1"/>
          <p:nvPr/>
        </p:nvSpPr>
        <p:spPr>
          <a:xfrm>
            <a:off x="5120640" y="1051560"/>
            <a:ext cx="3566160" cy="219456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Augmentasi warna mengubah kecerahan, saturasi, atau corak warna, tetapi tidak memindahkan piksel. Karena itu kotaknya sama persis dengan gambar asli. Pada gambar kanan, kecerahan diturunkan sekitar 45% dan saturasi dinaikkan, meniru foto yang diambil saat cahaya kurang.</a:t>
            </a:r>
            <a:endParaRPr lang="en-US" sz="1300" dirty="0"/>
          </a:p>
        </p:txBody>
      </p:sp>
      <p:sp>
        <p:nvSpPr>
          <p:cNvPr id="13" name="Shape 8"/>
          <p:cNvSpPr/>
          <p:nvPr/>
        </p:nvSpPr>
        <p:spPr>
          <a:xfrm>
            <a:off x="5120640" y="3291840"/>
            <a:ext cx="3566160" cy="914400"/>
          </a:xfrm>
          <a:prstGeom prst="roundRect">
            <a:avLst>
              <a:gd name="adj" fmla="val 800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14" name="Text 9"/>
          <p:cNvSpPr txBox="1"/>
          <p:nvPr/>
        </p:nvSpPr>
        <p:spPr>
          <a:xfrm>
            <a:off x="5285232" y="3291840"/>
            <a:ext cx="3236976" cy="914400"/>
          </a:xfrm>
          <a:prstGeom prst="rect">
            <a:avLst/>
          </a:prstGeom>
          <a:noFill/>
          <a:ln/>
        </p:spPr>
        <p:txBody>
          <a:bodyPr wrap="square" lIns="0" tIns="0" rIns="0" bIns="0" rtlCol="0" anchor="ctr"/>
          <a:lstStyle/>
          <a:p>
            <a:pPr marL="0" indent="0">
              <a:buNone/>
            </a:pPr>
            <a:r>
              <a:rPr lang="en-US" sz="1200" dirty="0">
                <a:solidFill>
                  <a:srgbClr val="1F2D3A"/>
                </a:solidFill>
                <a:latin typeface="Calibri" pitchFamily="34" charset="0"/>
                <a:ea typeface="Calibri" pitchFamily="34" charset="-122"/>
                <a:cs typeface="Calibri" pitchFamily="34" charset="-120"/>
              </a:rPr>
              <a:t>Augmentasi ini membantu model tetap mengenali objek walaupun pencahayaan berubah, masalah yang sangat umum di lapangan.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Mosaic: empat gambar menjadi satu</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12</a:t>
            </a:r>
            <a:endParaRPr lang="en-US" sz="900" dirty="0"/>
          </a:p>
        </p:txBody>
      </p:sp>
      <p:sp>
        <p:nvSpPr>
          <p:cNvPr id="6" name="Shape 3"/>
          <p:cNvSpPr/>
          <p:nvPr/>
        </p:nvSpPr>
        <p:spPr>
          <a:xfrm>
            <a:off x="457200" y="1051560"/>
            <a:ext cx="3291840" cy="3291840"/>
          </a:xfrm>
          <a:prstGeom prst="rect">
            <a:avLst/>
          </a:prstGeom>
          <a:solidFill>
            <a:srgbClr val="FFFFFF"/>
          </a:solidFill>
          <a:ln w="9525">
            <a:solidFill>
              <a:srgbClr val="C7E0F4"/>
            </a:solidFill>
            <a:prstDash val="solid"/>
          </a:ln>
        </p:spPr>
      </p:sp>
      <p:pic>
        <p:nvPicPr>
          <p:cNvPr id="7" name="Image 0" descr="/home/claude/w4ppt/img/aug_mosaic.jpg"/>
          <p:cNvPicPr>
            <a:picLocks noChangeAspect="1"/>
          </p:cNvPicPr>
          <p:nvPr/>
        </p:nvPicPr>
        <p:blipFill>
          <a:blip r:embed="rId3"/>
          <a:stretch>
            <a:fillRect/>
          </a:stretch>
        </p:blipFill>
        <p:spPr>
          <a:xfrm>
            <a:off x="457200" y="1051560"/>
            <a:ext cx="3291840" cy="3291840"/>
          </a:xfrm>
          <a:prstGeom prst="rect">
            <a:avLst/>
          </a:prstGeom>
        </p:spPr>
      </p:pic>
      <p:sp>
        <p:nvSpPr>
          <p:cNvPr id="8" name="Text 4"/>
          <p:cNvSpPr txBox="1"/>
          <p:nvPr/>
        </p:nvSpPr>
        <p:spPr>
          <a:xfrm>
            <a:off x="457200" y="4389120"/>
            <a:ext cx="3291840" cy="237744"/>
          </a:xfrm>
          <a:prstGeom prst="rect">
            <a:avLst/>
          </a:prstGeom>
          <a:noFill/>
          <a:ln/>
        </p:spPr>
        <p:txBody>
          <a:bodyPr wrap="square" lIns="0" tIns="0" rIns="0" bIns="0" rtlCol="0" anchor="ctr"/>
          <a:lstStyle/>
          <a:p>
            <a:pPr marL="0" indent="0">
              <a:buNone/>
            </a:pPr>
            <a:r>
              <a:rPr lang="en-US" sz="900" i="1" dirty="0">
                <a:solidFill>
                  <a:srgbClr val="5C7185"/>
                </a:solidFill>
                <a:latin typeface="Calibri" pitchFamily="34" charset="0"/>
                <a:ea typeface="Calibri" pitchFamily="34" charset="-122"/>
                <a:cs typeface="Calibri" pitchFamily="34" charset="-120"/>
              </a:rPr>
              <a:t>Mosaic 2×2 dari 4 gambar COCO, 31 kotak ikut diskalakan</a:t>
            </a:r>
            <a:endParaRPr lang="en-US" sz="900" dirty="0"/>
          </a:p>
        </p:txBody>
      </p:sp>
      <p:sp>
        <p:nvSpPr>
          <p:cNvPr id="9" name="Text 5"/>
          <p:cNvSpPr txBox="1"/>
          <p:nvPr/>
        </p:nvSpPr>
        <p:spPr>
          <a:xfrm>
            <a:off x="4023360" y="1051560"/>
            <a:ext cx="4663440" cy="13716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Mosaic menggabungkan empat gambar menjadi satu gambar latih. Setiap gambar diperkecil, lalu kotaknya ikut diskalakan dan digeser sesuai posisinya. Hasilnya, satu gambar latih berisi banyak objek dengan ukuran dan latar yang beragam.</a:t>
            </a:r>
            <a:endParaRPr lang="en-US" sz="1350" dirty="0"/>
          </a:p>
        </p:txBody>
      </p:sp>
      <p:sp>
        <p:nvSpPr>
          <p:cNvPr id="10" name="Text 6"/>
          <p:cNvSpPr txBox="1"/>
          <p:nvPr/>
        </p:nvSpPr>
        <p:spPr>
          <a:xfrm>
            <a:off x="4023360" y="2468880"/>
            <a:ext cx="4663440" cy="210312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Mosaic sangat membantu untuk objek kecil dan dataset kecil, karena model melihat lebih banyak kombinasi objek dan latar dalam setiap langkah pelatihan. Di Ultralytics, mosaic aktif secara bawaan dan biasanya dimatikan otomatis pada beberapa epoch terakhir, agar model sempat belajar dari gambar utuh. Contoh di samping adalah versi sederhana 2×2; Ultralytics memakai titik potong acak.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Augmentasi otomatis di Ultralytics</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13</a:t>
            </a:r>
            <a:endParaRPr lang="en-US" sz="900" dirty="0"/>
          </a:p>
        </p:txBody>
      </p:sp>
      <p:sp>
        <p:nvSpPr>
          <p:cNvPr id="6" name="Text 3"/>
          <p:cNvSpPr txBox="1"/>
          <p:nvPr/>
        </p:nvSpPr>
        <p:spPr>
          <a:xfrm>
            <a:off x="457200" y="1051560"/>
            <a:ext cx="8229600" cy="77724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Ultralytics melakukan augmentasi secara otomatis setiap kali gambar dimuat saat pelatihan (online), jadi kita tidak perlu membuat ribuan file gambar baru. Kita cukup mengatur kekuatan setiap jenis augmentasi lewat parameter berikut.</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8229600" cy="256032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Bawaan umum</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Efek</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Kapan diubah</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fliplr</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balik kiri-kanan, peluang 50%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set 0 jika arah kiri-kanan membedakan kelas</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flipud</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balik atas-bawah</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naikkan hanya jika objek bisa terbalik</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degrees</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rotasi acak</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naikkan sedikit jika kamera bisa miring</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scale</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perbesar/perkecil ±50%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turunkan jika jarak objek selalu tetap</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hsv_h, hsv_s, hsv_v</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0.015, 0.7, 0.4</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corak, saturasi, kecerahan</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turunkan hsv_h jika warna membedakan kelas</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mosaic</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gabungkan 4 gambar</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biasanya dibiarkan aktif</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Augmentasi yang merusak makna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14</a:t>
            </a:r>
            <a:endParaRPr lang="en-US" sz="900" dirty="0"/>
          </a:p>
        </p:txBody>
      </p:sp>
      <p:sp>
        <p:nvSpPr>
          <p:cNvPr id="6" name="Text 3"/>
          <p:cNvSpPr txBox="1"/>
          <p:nvPr/>
        </p:nvSpPr>
        <p:spPr>
          <a:xfrm>
            <a:off x="457200" y="1051560"/>
            <a:ext cx="8229600" cy="82296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Tidak semua augmentasi aman. Prinsipnya: augmentasi hanya boleh menghasilkan gambar yang mungkin ditemui model di dunia nyata. Jika tidak, model belajar dari contoh yang mustahil, dan akurasinya bisa justru turun.</a:t>
            </a:r>
            <a:endParaRPr lang="en-US" sz="1350" dirty="0"/>
          </a:p>
        </p:txBody>
      </p:sp>
      <p:sp>
        <p:nvSpPr>
          <p:cNvPr id="7" name="Shape 4"/>
          <p:cNvSpPr/>
          <p:nvPr/>
        </p:nvSpPr>
        <p:spPr>
          <a:xfrm>
            <a:off x="457200" y="2011680"/>
            <a:ext cx="4023360" cy="1143000"/>
          </a:xfrm>
          <a:prstGeom prst="roundRect">
            <a:avLst>
              <a:gd name="adj" fmla="val 6400"/>
            </a:avLst>
          </a:prstGeom>
          <a:solidFill>
            <a:srgbClr val="FBE7E5"/>
          </a:solidFill>
          <a:ln w="9525">
            <a:solidFill>
              <a:srgbClr val="C7E0F4"/>
            </a:solidFill>
            <a:prstDash val="solid"/>
          </a:ln>
          <a:effectLst>
            <a:outerShdw blurRad="76200" dist="25400" dir="5400000" algn="bl" rotWithShape="0">
              <a:srgbClr val="1D5C94">
                <a:alpha val="10000"/>
              </a:srgbClr>
            </a:outerShdw>
          </a:effectLst>
        </p:spPr>
      </p:sp>
      <p:sp>
        <p:nvSpPr>
          <p:cNvPr id="8" name="Text 5"/>
          <p:cNvSpPr txBox="1"/>
          <p:nvPr/>
        </p:nvSpPr>
        <p:spPr>
          <a:xfrm>
            <a:off x="640080" y="2057400"/>
            <a:ext cx="3657600" cy="1051560"/>
          </a:xfrm>
          <a:prstGeom prst="rect">
            <a:avLst/>
          </a:prstGeom>
          <a:noFill/>
          <a:ln/>
        </p:spPr>
        <p:txBody>
          <a:bodyPr wrap="square" lIns="0" tIns="0" rIns="0" bIns="0" rtlCol="0" anchor="ctr"/>
          <a:lstStyle/>
          <a:p>
            <a:pPr marL="0" indent="0">
              <a:buNone/>
            </a:pPr>
            <a:r>
              <a:rPr lang="en-US" sz="1250" b="1" dirty="0">
                <a:solidFill>
                  <a:srgbClr val="C2413B"/>
                </a:solidFill>
                <a:latin typeface="Calibri" pitchFamily="34" charset="0"/>
                <a:ea typeface="Calibri" pitchFamily="34" charset="-122"/>
                <a:cs typeface="Calibri" pitchFamily="34" charset="-120"/>
              </a:rPr>
              <a:t>Flip atas-bawah</a:t>
            </a:r>
            <a:endParaRPr lang="en-US" sz="1250" dirty="0"/>
          </a:p>
          <a:p>
            <a:pPr marL="0" indent="0">
              <a:buNone/>
            </a:pPr>
            <a:r>
              <a:rPr lang="en-US" sz="1250" dirty="0">
                <a:solidFill>
                  <a:srgbClr val="1F2D3A"/>
                </a:solidFill>
                <a:latin typeface="Calibri" pitchFamily="34" charset="0"/>
                <a:ea typeface="Calibri" pitchFamily="34" charset="-122"/>
                <a:cs typeface="Calibri" pitchFamily="34" charset="-120"/>
              </a:rPr>
              <a:t>Hindari jika objek yang selalu tegak, seperti orang atau botol berdiri, tidak pernah terlihat terbalik</a:t>
            </a:r>
            <a:endParaRPr lang="en-US" sz="1250" dirty="0"/>
          </a:p>
        </p:txBody>
      </p:sp>
      <p:sp>
        <p:nvSpPr>
          <p:cNvPr id="9" name="Shape 6"/>
          <p:cNvSpPr/>
          <p:nvPr/>
        </p:nvSpPr>
        <p:spPr>
          <a:xfrm>
            <a:off x="4663440" y="2011680"/>
            <a:ext cx="4023360" cy="1143000"/>
          </a:xfrm>
          <a:prstGeom prst="roundRect">
            <a:avLst>
              <a:gd name="adj" fmla="val 6400"/>
            </a:avLst>
          </a:prstGeom>
          <a:solidFill>
            <a:srgbClr val="FBE7E5"/>
          </a:solidFill>
          <a:ln w="9525">
            <a:solidFill>
              <a:srgbClr val="C7E0F4"/>
            </a:solidFill>
            <a:prstDash val="solid"/>
          </a:ln>
          <a:effectLst>
            <a:outerShdw blurRad="76200" dist="25400" dir="5400000" algn="bl" rotWithShape="0">
              <a:srgbClr val="1D5C94">
                <a:alpha val="10000"/>
              </a:srgbClr>
            </a:outerShdw>
          </a:effectLst>
        </p:spPr>
      </p:sp>
      <p:sp>
        <p:nvSpPr>
          <p:cNvPr id="10" name="Text 7"/>
          <p:cNvSpPr txBox="1"/>
          <p:nvPr/>
        </p:nvSpPr>
        <p:spPr>
          <a:xfrm>
            <a:off x="4846320" y="2057400"/>
            <a:ext cx="3657600" cy="1051560"/>
          </a:xfrm>
          <a:prstGeom prst="rect">
            <a:avLst/>
          </a:prstGeom>
          <a:noFill/>
          <a:ln/>
        </p:spPr>
        <p:txBody>
          <a:bodyPr wrap="square" lIns="0" tIns="0" rIns="0" bIns="0" rtlCol="0" anchor="ctr"/>
          <a:lstStyle/>
          <a:p>
            <a:pPr marL="0" indent="0">
              <a:buNone/>
            </a:pPr>
            <a:r>
              <a:rPr lang="en-US" sz="1250" b="1" dirty="0">
                <a:solidFill>
                  <a:srgbClr val="C2413B"/>
                </a:solidFill>
                <a:latin typeface="Calibri" pitchFamily="34" charset="0"/>
                <a:ea typeface="Calibri" pitchFamily="34" charset="-122"/>
                <a:cs typeface="Calibri" pitchFamily="34" charset="-120"/>
              </a:rPr>
              <a:t>Rotasi besar</a:t>
            </a:r>
            <a:endParaRPr lang="en-US" sz="1250" dirty="0"/>
          </a:p>
          <a:p>
            <a:pPr marL="0" indent="0">
              <a:buNone/>
            </a:pPr>
            <a:r>
              <a:rPr lang="en-US" sz="1250" dirty="0">
                <a:solidFill>
                  <a:srgbClr val="1F2D3A"/>
                </a:solidFill>
                <a:latin typeface="Calibri" pitchFamily="34" charset="0"/>
                <a:ea typeface="Calibri" pitchFamily="34" charset="-122"/>
                <a:cs typeface="Calibri" pitchFamily="34" charset="-120"/>
              </a:rPr>
              <a:t>Hindari jika kamera yang selalu sejajar lantai tidak akan melihat objek miring 90°</a:t>
            </a:r>
            <a:endParaRPr lang="en-US" sz="1250" dirty="0"/>
          </a:p>
        </p:txBody>
      </p:sp>
      <p:sp>
        <p:nvSpPr>
          <p:cNvPr id="11" name="Shape 8"/>
          <p:cNvSpPr/>
          <p:nvPr/>
        </p:nvSpPr>
        <p:spPr>
          <a:xfrm>
            <a:off x="457200" y="3291840"/>
            <a:ext cx="4023360" cy="1143000"/>
          </a:xfrm>
          <a:prstGeom prst="roundRect">
            <a:avLst>
              <a:gd name="adj" fmla="val 6400"/>
            </a:avLst>
          </a:prstGeom>
          <a:solidFill>
            <a:srgbClr val="FBE7E5"/>
          </a:solidFill>
          <a:ln w="9525">
            <a:solidFill>
              <a:srgbClr val="C7E0F4"/>
            </a:solidFill>
            <a:prstDash val="solid"/>
          </a:ln>
          <a:effectLst>
            <a:outerShdw blurRad="76200" dist="25400" dir="5400000" algn="bl" rotWithShape="0">
              <a:srgbClr val="1D5C94">
                <a:alpha val="10000"/>
              </a:srgbClr>
            </a:outerShdw>
          </a:effectLst>
        </p:spPr>
      </p:sp>
      <p:sp>
        <p:nvSpPr>
          <p:cNvPr id="12" name="Text 9"/>
          <p:cNvSpPr txBox="1"/>
          <p:nvPr/>
        </p:nvSpPr>
        <p:spPr>
          <a:xfrm>
            <a:off x="640080" y="3337560"/>
            <a:ext cx="3657600" cy="1051560"/>
          </a:xfrm>
          <a:prstGeom prst="rect">
            <a:avLst/>
          </a:prstGeom>
          <a:noFill/>
          <a:ln/>
        </p:spPr>
        <p:txBody>
          <a:bodyPr wrap="square" lIns="0" tIns="0" rIns="0" bIns="0" rtlCol="0" anchor="ctr"/>
          <a:lstStyle/>
          <a:p>
            <a:pPr marL="0" indent="0">
              <a:buNone/>
            </a:pPr>
            <a:r>
              <a:rPr lang="en-US" sz="1250" b="1" dirty="0">
                <a:solidFill>
                  <a:srgbClr val="C2413B"/>
                </a:solidFill>
                <a:latin typeface="Calibri" pitchFamily="34" charset="0"/>
                <a:ea typeface="Calibri" pitchFamily="34" charset="-122"/>
                <a:cs typeface="Calibri" pitchFamily="34" charset="-120"/>
              </a:rPr>
              <a:t>Ubah warna kuat</a:t>
            </a:r>
            <a:endParaRPr lang="en-US" sz="1250" dirty="0"/>
          </a:p>
          <a:p>
            <a:pPr marL="0" indent="0">
              <a:buNone/>
            </a:pPr>
            <a:r>
              <a:rPr lang="en-US" sz="1250" dirty="0">
                <a:solidFill>
                  <a:srgbClr val="1F2D3A"/>
                </a:solidFill>
                <a:latin typeface="Calibri" pitchFamily="34" charset="0"/>
                <a:ea typeface="Calibri" pitchFamily="34" charset="-122"/>
                <a:cs typeface="Calibri" pitchFamily="34" charset="-120"/>
              </a:rPr>
              <a:t>Hindari jika jika kelas dibedakan oleh warna, misalnya kabel merah dan biru</a:t>
            </a:r>
            <a:endParaRPr lang="en-US" sz="1250" dirty="0"/>
          </a:p>
        </p:txBody>
      </p:sp>
      <p:sp>
        <p:nvSpPr>
          <p:cNvPr id="13" name="Shape 10"/>
          <p:cNvSpPr/>
          <p:nvPr/>
        </p:nvSpPr>
        <p:spPr>
          <a:xfrm>
            <a:off x="4663440" y="3291840"/>
            <a:ext cx="4023360" cy="1143000"/>
          </a:xfrm>
          <a:prstGeom prst="roundRect">
            <a:avLst>
              <a:gd name="adj" fmla="val 6400"/>
            </a:avLst>
          </a:prstGeom>
          <a:solidFill>
            <a:srgbClr val="FBE7E5"/>
          </a:solidFill>
          <a:ln w="9525">
            <a:solidFill>
              <a:srgbClr val="C7E0F4"/>
            </a:solidFill>
            <a:prstDash val="solid"/>
          </a:ln>
          <a:effectLst>
            <a:outerShdw blurRad="76200" dist="25400" dir="5400000" algn="bl" rotWithShape="0">
              <a:srgbClr val="1D5C94">
                <a:alpha val="10000"/>
              </a:srgbClr>
            </a:outerShdw>
          </a:effectLst>
        </p:spPr>
      </p:sp>
      <p:sp>
        <p:nvSpPr>
          <p:cNvPr id="14" name="Text 11"/>
          <p:cNvSpPr txBox="1"/>
          <p:nvPr/>
        </p:nvSpPr>
        <p:spPr>
          <a:xfrm>
            <a:off x="4846320" y="3337560"/>
            <a:ext cx="3657600" cy="1051560"/>
          </a:xfrm>
          <a:prstGeom prst="rect">
            <a:avLst/>
          </a:prstGeom>
          <a:noFill/>
          <a:ln/>
        </p:spPr>
        <p:txBody>
          <a:bodyPr wrap="square" lIns="0" tIns="0" rIns="0" bIns="0" rtlCol="0" anchor="ctr"/>
          <a:lstStyle/>
          <a:p>
            <a:pPr marL="0" indent="0">
              <a:buNone/>
            </a:pPr>
            <a:r>
              <a:rPr lang="en-US" sz="1250" b="1" dirty="0">
                <a:solidFill>
                  <a:srgbClr val="C2413B"/>
                </a:solidFill>
                <a:latin typeface="Calibri" pitchFamily="34" charset="0"/>
                <a:ea typeface="Calibri" pitchFamily="34" charset="-122"/>
                <a:cs typeface="Calibri" pitchFamily="34" charset="-120"/>
              </a:rPr>
              <a:t>Flip kiri-kanan</a:t>
            </a:r>
            <a:endParaRPr lang="en-US" sz="1250" dirty="0"/>
          </a:p>
          <a:p>
            <a:pPr marL="0" indent="0">
              <a:buNone/>
            </a:pPr>
            <a:r>
              <a:rPr lang="en-US" sz="1250" dirty="0">
                <a:solidFill>
                  <a:srgbClr val="1F2D3A"/>
                </a:solidFill>
                <a:latin typeface="Calibri" pitchFamily="34" charset="0"/>
                <a:ea typeface="Calibri" pitchFamily="34" charset="-122"/>
                <a:cs typeface="Calibri" pitchFamily="34" charset="-120"/>
              </a:rPr>
              <a:t>Hindari jika jika arah membedakan kelas, misalnya rambu belok kiri dan kanan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Train, val, dan test</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15</a:t>
            </a:r>
            <a:endParaRPr lang="en-US" sz="900" dirty="0"/>
          </a:p>
        </p:txBody>
      </p:sp>
      <p:sp>
        <p:nvSpPr>
          <p:cNvPr id="6" name="Text 3"/>
          <p:cNvSpPr txBox="1"/>
          <p:nvPr/>
        </p:nvSpPr>
        <p:spPr>
          <a:xfrm>
            <a:off x="457200" y="1051560"/>
            <a:ext cx="4937760" cy="192024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Dataset dibagi menjadi tiga bagian dengan peran berbeda. Data train dipakai untuk belajar. Data val dipakai selama pengembangan untuk memilih model dan pengaturan terbaik. Data test disimpan dan baru dipakai sekali di akhir, untuk melaporkan kinerja dengan jujur. Augmentasi hanya diterapkan pada data train.</a:t>
            </a:r>
            <a:endParaRPr lang="en-US" sz="1350" dirty="0"/>
          </a:p>
        </p:txBody>
      </p:sp>
      <p:sp>
        <p:nvSpPr>
          <p:cNvPr id="7" name="Text 4"/>
          <p:cNvSpPr txBox="1"/>
          <p:nvPr/>
        </p:nvSpPr>
        <p:spPr>
          <a:xfrm>
            <a:off x="457200" y="3017520"/>
            <a:ext cx="4937760" cy="1097280"/>
          </a:xfrm>
          <a:prstGeom prst="rect">
            <a:avLst/>
          </a:prstGeom>
          <a:noFill/>
          <a:ln/>
        </p:spPr>
        <p:txBody>
          <a:bodyPr wrap="square" lIns="0" tIns="0" rIns="0" bIns="0" rtlCol="0" anchor="t"/>
          <a:lstStyle/>
          <a:p>
            <a:pPr marL="0" indent="0">
              <a:spcAft>
                <a:spcPts val="600"/>
              </a:spcAft>
              <a:buNone/>
            </a:pPr>
            <a:r>
              <a:rPr lang="en-US" sz="1350" dirty="0">
                <a:solidFill>
                  <a:srgbClr val="FF0000"/>
                </a:solidFill>
                <a:latin typeface="Calibri" pitchFamily="34" charset="0"/>
                <a:ea typeface="Calibri" pitchFamily="34" charset="-122"/>
                <a:cs typeface="Calibri" pitchFamily="34" charset="-120"/>
              </a:rPr>
              <a:t>Foto kembar harus dihapus sebelum data dibagi</a:t>
            </a:r>
            <a:r>
              <a:rPr lang="en-US" sz="1350" dirty="0">
                <a:solidFill>
                  <a:srgbClr val="1F2D3A"/>
                </a:solidFill>
                <a:latin typeface="Calibri" pitchFamily="34" charset="0"/>
                <a:ea typeface="Calibri" pitchFamily="34" charset="-122"/>
                <a:cs typeface="Calibri" pitchFamily="34" charset="-120"/>
              </a:rPr>
              <a:t>. Jika satu foto ada di train dan kembarannya di val, nilai val menjadi terlalu tinggi (data leakage), seperti yang dibahas di minggu 3.</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0" y="1051560"/>
          <a:ext cx="3017520" cy="146304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Bagian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Proporsi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Contoh asli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46 gambar</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val</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13 gambar</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50" dirty="0">
                          <a:solidFill>
                            <a:srgbClr val="1F2D3A"/>
                          </a:solidFill>
                          <a:latin typeface="Calibri" pitchFamily="34" charset="0"/>
                          <a:ea typeface="Calibri" pitchFamily="34" charset="-122"/>
                          <a:cs typeface="Calibri" pitchFamily="34" charset="-120"/>
                        </a:rPr>
                        <a:t>7 gambar</a:t>
                      </a:r>
                      <a:endParaRPr lang="en-US" sz="12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txBox="1"/>
          <p:nvPr/>
        </p:nvSpPr>
        <p:spPr>
          <a:xfrm>
            <a:off x="5669280" y="2606040"/>
            <a:ext cx="301752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Data asli: subset COCO (coco128), keluaran program minggu 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Ketidakseimbangan kelas</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16</a:t>
            </a:r>
            <a:endParaRPr lang="en-US" sz="900" dirty="0"/>
          </a:p>
        </p:txBody>
      </p:sp>
      <p:graphicFrame>
        <p:nvGraphicFramePr>
          <p:cNvPr id="6" name="Chart 0"/>
          <p:cNvGraphicFramePr/>
          <p:nvPr/>
        </p:nvGraphicFramePr>
        <p:xfrm>
          <a:off x="457200" y="1051560"/>
          <a:ext cx="4023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457200" y="4114800"/>
            <a:ext cx="402336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Data asli: subset COCO (coco128), keluaran program minggu 4</a:t>
            </a:r>
            <a:endParaRPr lang="en-US" sz="950" dirty="0"/>
          </a:p>
        </p:txBody>
      </p:sp>
      <p:sp>
        <p:nvSpPr>
          <p:cNvPr id="8" name="Text 4"/>
          <p:cNvSpPr txBox="1"/>
          <p:nvPr/>
        </p:nvSpPr>
        <p:spPr>
          <a:xfrm>
            <a:off x="4754880" y="1051560"/>
            <a:ext cx="3931920" cy="146304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Pada subset COCO yang kita ambil, kelas person punya 187 kotak, sedangkan car dan cup masing-masing sekitar 30. COCO memang didominasi foto berisi orang, dan satu foto keramaian bisa berisi belasan orang.</a:t>
            </a:r>
            <a:endParaRPr lang="en-US" sz="1300" dirty="0"/>
          </a:p>
        </p:txBody>
      </p:sp>
      <p:sp>
        <p:nvSpPr>
          <p:cNvPr id="9" name="Text 5"/>
          <p:cNvSpPr txBox="1"/>
          <p:nvPr/>
        </p:nvSpPr>
        <p:spPr>
          <a:xfrm>
            <a:off x="4754880" y="2560320"/>
            <a:ext cx="3931920" cy="201168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Akibatnya, model akan lebih sering melihat person dan cenderung lebih pandai mengenalinya. Augmentasi saja tidak menyelesaikan masalah ini, karena augmentasi memperbanyak semua kelas secara merata. Cara yang lebih efektif adalah menambah data kelas yang sedikit, lalu memeriksa hasil per kelas, bukan hanya rata-ratanya.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137160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MINGGU 6</a:t>
            </a:r>
            <a:endParaRPr lang="en-US" sz="1400" dirty="0"/>
          </a:p>
        </p:txBody>
      </p:sp>
      <p:sp>
        <p:nvSpPr>
          <p:cNvPr id="4" name="Text 2"/>
          <p:cNvSpPr txBox="1"/>
          <p:nvPr/>
        </p:nvSpPr>
        <p:spPr>
          <a:xfrm>
            <a:off x="548640" y="1783080"/>
            <a:ext cx="8046720" cy="1005840"/>
          </a:xfrm>
          <a:prstGeom prst="rect">
            <a:avLst/>
          </a:prstGeom>
          <a:noFill/>
          <a:ln/>
        </p:spPr>
        <p:txBody>
          <a:bodyPr wrap="square" lIns="0" tIns="0" rIns="0" bIns="0" rtlCol="0" anchor="t"/>
          <a:lstStyle/>
          <a:p>
            <a:pPr marL="0" indent="0">
              <a:buNone/>
            </a:pPr>
            <a:r>
              <a:rPr lang="en-US" sz="3400" b="1" dirty="0">
                <a:solidFill>
                  <a:srgbClr val="16324F"/>
                </a:solidFill>
                <a:latin typeface="Arial" pitchFamily="34" charset="0"/>
                <a:ea typeface="Arial" pitchFamily="34" charset="-122"/>
                <a:cs typeface="Arial" pitchFamily="34" charset="-120"/>
              </a:rPr>
              <a:t>Melatih YOLO</a:t>
            </a:r>
            <a:endParaRPr lang="en-US" sz="3400" dirty="0"/>
          </a:p>
        </p:txBody>
      </p:sp>
      <p:sp>
        <p:nvSpPr>
          <p:cNvPr id="5" name="Text 3"/>
          <p:cNvSpPr txBox="1"/>
          <p:nvPr/>
        </p:nvSpPr>
        <p:spPr>
          <a:xfrm>
            <a:off x="548640" y="2834640"/>
            <a:ext cx="8046720" cy="457200"/>
          </a:xfrm>
          <a:prstGeom prst="rect">
            <a:avLst/>
          </a:prstGeom>
          <a:noFill/>
          <a:ln/>
        </p:spPr>
        <p:txBody>
          <a:bodyPr wrap="square" lIns="0" tIns="0" rIns="0" bIns="0" rtlCol="0" anchor="ctr"/>
          <a:lstStyle/>
          <a:p>
            <a:pPr marL="0" indent="0">
              <a:buNone/>
            </a:pPr>
            <a:r>
              <a:rPr lang="en-US" sz="1500" dirty="0">
                <a:solidFill>
                  <a:srgbClr val="1D5C94"/>
                </a:solidFill>
                <a:latin typeface="Calibri" pitchFamily="34" charset="0"/>
                <a:ea typeface="Calibri" pitchFamily="34" charset="-122"/>
                <a:cs typeface="Calibri" pitchFamily="34" charset="-120"/>
              </a:rPr>
              <a:t>Transfer learning, loss, dan metrik deteksi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Alur pelatihan YOLO</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19</a:t>
            </a:r>
            <a:endParaRPr lang="en-US" sz="900" dirty="0"/>
          </a:p>
        </p:txBody>
      </p:sp>
      <p:sp>
        <p:nvSpPr>
          <p:cNvPr id="6" name="Shape 3"/>
          <p:cNvSpPr/>
          <p:nvPr/>
        </p:nvSpPr>
        <p:spPr>
          <a:xfrm>
            <a:off x="457200" y="1097280"/>
            <a:ext cx="1463040" cy="960120"/>
          </a:xfrm>
          <a:prstGeom prst="roundRect">
            <a:avLst>
              <a:gd name="adj" fmla="val 7619"/>
            </a:avLst>
          </a:prstGeom>
          <a:solidFill>
            <a:srgbClr val="E3F1FC"/>
          </a:solidFill>
          <a:ln w="9525">
            <a:solidFill>
              <a:srgbClr val="C7E0F4"/>
            </a:solidFill>
            <a:prstDash val="solid"/>
          </a:ln>
        </p:spPr>
      </p:sp>
      <p:sp>
        <p:nvSpPr>
          <p:cNvPr id="7" name="Text 4"/>
          <p:cNvSpPr txBox="1"/>
          <p:nvPr/>
        </p:nvSpPr>
        <p:spPr>
          <a:xfrm>
            <a:off x="512064" y="1097280"/>
            <a:ext cx="1353312" cy="96012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data.yaml +</a:t>
            </a:r>
            <a:endParaRPr lang="en-US" sz="1200" dirty="0"/>
          </a:p>
          <a:p>
            <a:pPr marL="0" indent="0" algn="ctr">
              <a:buNone/>
            </a:pPr>
            <a:r>
              <a:rPr lang="en-US" sz="1200" b="1" dirty="0">
                <a:solidFill>
                  <a:srgbClr val="16324F"/>
                </a:solidFill>
                <a:latin typeface="Calibri" pitchFamily="34" charset="0"/>
                <a:ea typeface="Calibri" pitchFamily="34" charset="-122"/>
                <a:cs typeface="Calibri" pitchFamily="34" charset="-120"/>
              </a:rPr>
              <a:t>dataset_v1</a:t>
            </a:r>
            <a:endParaRPr lang="en-US" sz="1200" dirty="0"/>
          </a:p>
        </p:txBody>
      </p:sp>
      <p:sp>
        <p:nvSpPr>
          <p:cNvPr id="8" name="Text 5"/>
          <p:cNvSpPr txBox="1"/>
          <p:nvPr/>
        </p:nvSpPr>
        <p:spPr>
          <a:xfrm>
            <a:off x="1920240" y="1097280"/>
            <a:ext cx="228600" cy="96012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2148840" y="1097280"/>
            <a:ext cx="1463040" cy="960120"/>
          </a:xfrm>
          <a:prstGeom prst="roundRect">
            <a:avLst>
              <a:gd name="adj" fmla="val 7619"/>
            </a:avLst>
          </a:prstGeom>
          <a:solidFill>
            <a:srgbClr val="FDF1DE"/>
          </a:solidFill>
          <a:ln w="9525">
            <a:solidFill>
              <a:srgbClr val="C7E0F4"/>
            </a:solidFill>
            <a:prstDash val="solid"/>
          </a:ln>
        </p:spPr>
      </p:sp>
      <p:sp>
        <p:nvSpPr>
          <p:cNvPr id="10" name="Text 7"/>
          <p:cNvSpPr txBox="1"/>
          <p:nvPr/>
        </p:nvSpPr>
        <p:spPr>
          <a:xfrm>
            <a:off x="2203704" y="1097280"/>
            <a:ext cx="1353312" cy="96012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Model pretrained</a:t>
            </a:r>
            <a:endParaRPr lang="en-US" sz="1200" dirty="0"/>
          </a:p>
          <a:p>
            <a:pPr marL="0" indent="0" algn="ctr">
              <a:buNone/>
            </a:pPr>
            <a:r>
              <a:rPr lang="en-US" sz="1200" b="1" dirty="0">
                <a:solidFill>
                  <a:srgbClr val="16324F"/>
                </a:solidFill>
                <a:latin typeface="Calibri" pitchFamily="34" charset="0"/>
                <a:ea typeface="Calibri" pitchFamily="34" charset="-122"/>
                <a:cs typeface="Calibri" pitchFamily="34" charset="-120"/>
              </a:rPr>
              <a:t>COCO</a:t>
            </a:r>
            <a:endParaRPr lang="en-US" sz="1200" dirty="0"/>
          </a:p>
        </p:txBody>
      </p:sp>
      <p:sp>
        <p:nvSpPr>
          <p:cNvPr id="11" name="Text 8"/>
          <p:cNvSpPr txBox="1"/>
          <p:nvPr/>
        </p:nvSpPr>
        <p:spPr>
          <a:xfrm>
            <a:off x="3611880" y="1097280"/>
            <a:ext cx="228600" cy="96012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2" name="Shape 9"/>
          <p:cNvSpPr/>
          <p:nvPr/>
        </p:nvSpPr>
        <p:spPr>
          <a:xfrm>
            <a:off x="3840480" y="1097280"/>
            <a:ext cx="1463040" cy="960120"/>
          </a:xfrm>
          <a:prstGeom prst="roundRect">
            <a:avLst>
              <a:gd name="adj" fmla="val 7619"/>
            </a:avLst>
          </a:prstGeom>
          <a:solidFill>
            <a:srgbClr val="FFFFFF"/>
          </a:solidFill>
          <a:ln w="9525">
            <a:solidFill>
              <a:srgbClr val="C7E0F4"/>
            </a:solidFill>
            <a:prstDash val="solid"/>
          </a:ln>
        </p:spPr>
      </p:sp>
      <p:sp>
        <p:nvSpPr>
          <p:cNvPr id="13" name="Text 10"/>
          <p:cNvSpPr txBox="1"/>
          <p:nvPr/>
        </p:nvSpPr>
        <p:spPr>
          <a:xfrm>
            <a:off x="3895344" y="1097280"/>
            <a:ext cx="1353312" cy="96012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Latih per epoch</a:t>
            </a:r>
            <a:endParaRPr lang="en-US" sz="1200" dirty="0"/>
          </a:p>
          <a:p>
            <a:pPr marL="0" indent="0" algn="ctr">
              <a:buNone/>
            </a:pPr>
            <a:r>
              <a:rPr lang="en-US" sz="1200" b="1" dirty="0">
                <a:solidFill>
                  <a:srgbClr val="16324F"/>
                </a:solidFill>
                <a:latin typeface="Calibri" pitchFamily="34" charset="0"/>
                <a:ea typeface="Calibri" pitchFamily="34" charset="-122"/>
                <a:cs typeface="Calibri" pitchFamily="34" charset="-120"/>
              </a:rPr>
              <a:t>(train)</a:t>
            </a:r>
            <a:endParaRPr lang="en-US" sz="1200" dirty="0"/>
          </a:p>
        </p:txBody>
      </p:sp>
      <p:sp>
        <p:nvSpPr>
          <p:cNvPr id="14" name="Text 11"/>
          <p:cNvSpPr txBox="1"/>
          <p:nvPr/>
        </p:nvSpPr>
        <p:spPr>
          <a:xfrm>
            <a:off x="5303520" y="1097280"/>
            <a:ext cx="228600" cy="96012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5" name="Shape 12"/>
          <p:cNvSpPr/>
          <p:nvPr/>
        </p:nvSpPr>
        <p:spPr>
          <a:xfrm>
            <a:off x="5532120" y="1097280"/>
            <a:ext cx="1463040" cy="960120"/>
          </a:xfrm>
          <a:prstGeom prst="roundRect">
            <a:avLst>
              <a:gd name="adj" fmla="val 7619"/>
            </a:avLst>
          </a:prstGeom>
          <a:solidFill>
            <a:srgbClr val="FFFFFF"/>
          </a:solidFill>
          <a:ln w="9525">
            <a:solidFill>
              <a:srgbClr val="C7E0F4"/>
            </a:solidFill>
            <a:prstDash val="solid"/>
          </a:ln>
        </p:spPr>
      </p:sp>
      <p:sp>
        <p:nvSpPr>
          <p:cNvPr id="16" name="Text 13"/>
          <p:cNvSpPr txBox="1"/>
          <p:nvPr/>
        </p:nvSpPr>
        <p:spPr>
          <a:xfrm>
            <a:off x="5586984" y="1097280"/>
            <a:ext cx="1353312" cy="96012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Evaluasi</a:t>
            </a:r>
            <a:endParaRPr lang="en-US" sz="1200" dirty="0"/>
          </a:p>
          <a:p>
            <a:pPr marL="0" indent="0" algn="ctr">
              <a:buNone/>
            </a:pPr>
            <a:r>
              <a:rPr lang="en-US" sz="1200" b="1" dirty="0">
                <a:solidFill>
                  <a:srgbClr val="16324F"/>
                </a:solidFill>
                <a:latin typeface="Calibri" pitchFamily="34" charset="0"/>
                <a:ea typeface="Calibri" pitchFamily="34" charset="-122"/>
                <a:cs typeface="Calibri" pitchFamily="34" charset="-120"/>
              </a:rPr>
              <a:t>(val)</a:t>
            </a:r>
            <a:endParaRPr lang="en-US" sz="1200" dirty="0"/>
          </a:p>
        </p:txBody>
      </p:sp>
      <p:sp>
        <p:nvSpPr>
          <p:cNvPr id="17" name="Text 14"/>
          <p:cNvSpPr txBox="1"/>
          <p:nvPr/>
        </p:nvSpPr>
        <p:spPr>
          <a:xfrm>
            <a:off x="6995160" y="1097280"/>
            <a:ext cx="228600" cy="96012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8" name="Shape 15"/>
          <p:cNvSpPr/>
          <p:nvPr/>
        </p:nvSpPr>
        <p:spPr>
          <a:xfrm>
            <a:off x="7223760" y="1097280"/>
            <a:ext cx="1463040" cy="960120"/>
          </a:xfrm>
          <a:prstGeom prst="roundRect">
            <a:avLst>
              <a:gd name="adj" fmla="val 7619"/>
            </a:avLst>
          </a:prstGeom>
          <a:solidFill>
            <a:srgbClr val="E3F1FC"/>
          </a:solidFill>
          <a:ln w="9525">
            <a:solidFill>
              <a:srgbClr val="C7E0F4"/>
            </a:solidFill>
            <a:prstDash val="solid"/>
          </a:ln>
        </p:spPr>
      </p:sp>
      <p:sp>
        <p:nvSpPr>
          <p:cNvPr id="19" name="Text 16"/>
          <p:cNvSpPr txBox="1"/>
          <p:nvPr/>
        </p:nvSpPr>
        <p:spPr>
          <a:xfrm>
            <a:off x="7278624" y="1097280"/>
            <a:ext cx="1353312" cy="96012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Simpan</a:t>
            </a:r>
            <a:endParaRPr lang="en-US" sz="1200" dirty="0"/>
          </a:p>
          <a:p>
            <a:pPr marL="0" indent="0" algn="ctr">
              <a:buNone/>
            </a:pPr>
            <a:r>
              <a:rPr lang="en-US" sz="1200" b="1" dirty="0">
                <a:solidFill>
                  <a:srgbClr val="16324F"/>
                </a:solidFill>
                <a:latin typeface="Calibri" pitchFamily="34" charset="0"/>
                <a:ea typeface="Calibri" pitchFamily="34" charset="-122"/>
                <a:cs typeface="Calibri" pitchFamily="34" charset="-120"/>
              </a:rPr>
              <a:t>best.pt</a:t>
            </a:r>
            <a:endParaRPr lang="en-US" sz="1200" dirty="0"/>
          </a:p>
        </p:txBody>
      </p:sp>
      <p:sp>
        <p:nvSpPr>
          <p:cNvPr id="20" name="Text 17"/>
          <p:cNvSpPr txBox="1"/>
          <p:nvPr/>
        </p:nvSpPr>
        <p:spPr>
          <a:xfrm>
            <a:off x="457200" y="2240280"/>
            <a:ext cx="8229600" cy="10972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Pelatihan YOLO dijalankan dengan satu perintah, tetapi di dalamnya ada beberapa langkah. Ultralytics membaca data.yaml untuk mengetahui lokasi data dan jumlah kelas, lalu memuat model pretrained COCO. Setelah itu model dilatih berulang kali. Satu epoch berarti seluruh data train sudah dilewati sekali.</a:t>
            </a:r>
            <a:endParaRPr lang="en-US" sz="1350" dirty="0"/>
          </a:p>
        </p:txBody>
      </p:sp>
      <p:sp>
        <p:nvSpPr>
          <p:cNvPr id="21" name="Text 18"/>
          <p:cNvSpPr txBox="1"/>
          <p:nvPr/>
        </p:nvSpPr>
        <p:spPr>
          <a:xfrm>
            <a:off x="457200" y="3383280"/>
            <a:ext cx="8229600" cy="10972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Setiap selesai satu epoch, model dievaluasi dengan data val. Bobot dengan nilai val terbaik disimpan sebagai best.pt, dan bobot epoch terakhir sebagai last.pt. Jadi model yang kita pakai nanti adalah model terbaik selama pelatihan, bukan otomatis model terakhir.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Transfer learning di YOLO</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20</a:t>
            </a:r>
            <a:endParaRPr lang="en-US" sz="900" dirty="0"/>
          </a:p>
        </p:txBody>
      </p:sp>
      <p:sp>
        <p:nvSpPr>
          <p:cNvPr id="6" name="Text 3"/>
          <p:cNvSpPr txBox="1"/>
          <p:nvPr/>
        </p:nvSpPr>
        <p:spPr>
          <a:xfrm>
            <a:off x="457200" y="1051560"/>
            <a:ext cx="8229600" cy="13716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Saat model pretrained COCO (80 kelas) dilatih dengan data.yaml berisi 3 kelas, Ultralytics membuat ulang bagian keluaran kelas menjadi 3, lalu memindahkan semua bobot lain yang ukurannya cocok dari model pretrained. Backbone yang sudah pandai mengenali tepi, tekstur, dan bentuk dipakai ulang, sehingga model cukup belajar membedakan kelas-kelas kita.</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8229600" cy="173736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47472">
                <a:tc>
                  <a:txBody>
                    <a:bodyPr/>
                    <a:lstStyle/>
                    <a:p>
                      <a:pPr marL="0" indent="0">
                        <a:buNone/>
                      </a:pP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Pretrained (yolo26n.pt)</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Dari nol (yolo26n.yaml)</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Bobot awal</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hasil belajar dari COCO</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acak</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Yang dipelajari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menyesuaikan dengan kelas kita</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semuanya dari awal</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Data yang dibutuhkan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ratusan gambar sudah cukup</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jauh lebih banyak</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Pola yang diharapkan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mAP naik cepat dan tinggi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mAP naik lambat dan rendah</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457200" y="4343400"/>
            <a:ext cx="822960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Pola ini yang dibuktikan di praktik terpadu (E1 vs E2), sama seperti feature/partial vs scratch di minggu 3.</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Perintah dan argumen pelatihan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21</a:t>
            </a:r>
            <a:endParaRPr lang="en-US" sz="900" dirty="0"/>
          </a:p>
        </p:txBody>
      </p:sp>
      <p:sp>
        <p:nvSpPr>
          <p:cNvPr id="6" name="Shape 3"/>
          <p:cNvSpPr/>
          <p:nvPr/>
        </p:nvSpPr>
        <p:spPr>
          <a:xfrm>
            <a:off x="457200" y="1051560"/>
            <a:ext cx="8229600" cy="548640"/>
          </a:xfrm>
          <a:prstGeom prst="roundRect">
            <a:avLst>
              <a:gd name="adj" fmla="val 10000"/>
            </a:avLst>
          </a:prstGeom>
          <a:solidFill>
            <a:srgbClr val="18324D"/>
          </a:solidFill>
          <a:ln w="12700">
            <a:solidFill>
              <a:srgbClr val="18324D"/>
            </a:solidFill>
            <a:prstDash val="solid"/>
          </a:ln>
        </p:spPr>
      </p:sp>
      <p:sp>
        <p:nvSpPr>
          <p:cNvPr id="7" name="Text 4"/>
          <p:cNvSpPr txBox="1"/>
          <p:nvPr/>
        </p:nvSpPr>
        <p:spPr>
          <a:xfrm>
            <a:off x="594360" y="1143000"/>
            <a:ext cx="7955280" cy="36576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yolo detect train data=dataset_v1/data.yaml model=yolo26n.pt epochs=30 imgsz=416 batch=16</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2304288"/>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Argumen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Arti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Pertimbangan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data</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lokasi data.yaml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harus berisi path, train, val, names</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titik awal (.pt = pretrained, .yaml = dari nol)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inilah yang menentukan ada transfer learning atau tidak</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epochs</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berapa kali data train dilewati</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terlalu sedikit = belum belajar; terlalu banyak = overfitting</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imgsz</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ukuran gambar input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lebih besar = objek kecil lebih terlihat, tetapi lebih lambat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batch</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jumlah gambar per langkah</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turunkan jika memori GPU tidak cukup</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txBox="1"/>
          <p:nvPr/>
        </p:nvSpPr>
        <p:spPr>
          <a:xfrm>
            <a:off x="457200" y="4114800"/>
            <a:ext cx="8229600" cy="548640"/>
          </a:xfrm>
          <a:prstGeom prst="rect">
            <a:avLst/>
          </a:prstGeom>
          <a:noFill/>
          <a:ln/>
        </p:spPr>
        <p:txBody>
          <a:bodyPr wrap="square" lIns="0" tIns="0" rIns="0" bIns="0" rtlCol="0" anchor="t"/>
          <a:lstStyle/>
          <a:p>
            <a:pPr marL="0" indent="0">
              <a:spcAft>
                <a:spcPts val="600"/>
              </a:spcAft>
              <a:buNone/>
            </a:pPr>
            <a:r>
              <a:rPr lang="en-US" sz="1250" dirty="0">
                <a:solidFill>
                  <a:srgbClr val="1D5C94"/>
                </a:solidFill>
                <a:latin typeface="Calibri" pitchFamily="34" charset="0"/>
                <a:ea typeface="Calibri" pitchFamily="34" charset="-122"/>
                <a:cs typeface="Calibri" pitchFamily="34" charset="-120"/>
              </a:rPr>
              <a:t>Argumen model adalah yang paling penting untuk dipahami: berkas .pt berarti mulai dari bobot pretrained, sedangkan .yaml berarti hanya arsitekturnya, tanpa pengetahuan apa pun.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Loss dan cara membaca kurvanya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22</a:t>
            </a:r>
            <a:endParaRPr lang="en-US" sz="900" dirty="0"/>
          </a:p>
        </p:txBody>
      </p:sp>
      <p:graphicFrame>
        <p:nvGraphicFramePr>
          <p:cNvPr id="6" name="Chart 0"/>
          <p:cNvGraphicFramePr/>
          <p:nvPr/>
        </p:nvGraphicFramePr>
        <p:xfrm>
          <a:off x="457200" y="1051560"/>
          <a:ext cx="42062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457200" y="4206240"/>
            <a:ext cx="420624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Ilustrasi pola kurva (bukan hasil pelatihan)</a:t>
            </a:r>
            <a:endParaRPr lang="en-US" sz="950" dirty="0"/>
          </a:p>
        </p:txBody>
      </p:sp>
      <p:sp>
        <p:nvSpPr>
          <p:cNvPr id="8" name="Text 4"/>
          <p:cNvSpPr txBox="1"/>
          <p:nvPr/>
        </p:nvSpPr>
        <p:spPr>
          <a:xfrm>
            <a:off x="4937760" y="1051560"/>
            <a:ext cx="3749040" cy="1600200"/>
          </a:xfrm>
          <a:prstGeom prst="rect">
            <a:avLst/>
          </a:prstGeom>
          <a:noFill/>
          <a:ln/>
        </p:spPr>
        <p:txBody>
          <a:bodyPr wrap="square" lIns="0" tIns="0" rIns="0" bIns="0" rtlCol="0" anchor="t"/>
          <a:lstStyle/>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Loss mengukur seberapa jauh tebakan model dari label.</a:t>
            </a:r>
          </a:p>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 Pada YOLO, loss terdiri dari beberapa komponen, misalnya box loss untuk ketepatan posisi kotak dan cls loss untuk ketepatan kelas. Nama dan jumlah komponennya bisa berbeda antarversi YOLO.</a:t>
            </a:r>
            <a:endParaRPr lang="en-US" sz="1250" dirty="0"/>
          </a:p>
        </p:txBody>
      </p:sp>
      <p:sp>
        <p:nvSpPr>
          <p:cNvPr id="9" name="Text 5"/>
          <p:cNvSpPr txBox="1"/>
          <p:nvPr/>
        </p:nvSpPr>
        <p:spPr>
          <a:xfrm>
            <a:off x="4937760" y="2697480"/>
            <a:ext cx="3749040" cy="1920240"/>
          </a:xfrm>
          <a:prstGeom prst="rect">
            <a:avLst/>
          </a:prstGeom>
          <a:noFill/>
          <a:ln/>
        </p:spPr>
        <p:txBody>
          <a:bodyPr wrap="square" lIns="0" tIns="0" rIns="0" bIns="0" rtlCol="0" anchor="t"/>
          <a:lstStyle/>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Yang penting adalah membaca polanya. </a:t>
            </a:r>
            <a:r>
              <a:rPr lang="en-US" sz="1250" dirty="0">
                <a:solidFill>
                  <a:srgbClr val="FF0000"/>
                </a:solidFill>
                <a:latin typeface="Calibri" pitchFamily="34" charset="0"/>
                <a:ea typeface="Calibri" pitchFamily="34" charset="-122"/>
                <a:cs typeface="Calibri" pitchFamily="34" charset="-120"/>
              </a:rPr>
              <a:t>Jika loss train dan loss val sama-sama turun, model belajar dengan </a:t>
            </a:r>
            <a:r>
              <a:rPr lang="en-US" sz="1250" dirty="0" err="1">
                <a:solidFill>
                  <a:srgbClr val="FF0000"/>
                </a:solidFill>
                <a:latin typeface="Calibri" pitchFamily="34" charset="0"/>
                <a:ea typeface="Calibri" pitchFamily="34" charset="-122"/>
                <a:cs typeface="Calibri" pitchFamily="34" charset="-120"/>
              </a:rPr>
              <a:t>sehat</a:t>
            </a:r>
            <a:r>
              <a:rPr lang="en-US" sz="1250" dirty="0">
                <a:solidFill>
                  <a:srgbClr val="FF0000"/>
                </a:solidFill>
                <a:latin typeface="Calibri" pitchFamily="34" charset="0"/>
                <a:ea typeface="Calibri" pitchFamily="34" charset="-122"/>
                <a:cs typeface="Calibri" pitchFamily="34" charset="-120"/>
              </a:rPr>
              <a:t>.</a:t>
            </a:r>
          </a:p>
          <a:p>
            <a:pPr marL="0" indent="0">
              <a:spcAft>
                <a:spcPts val="600"/>
              </a:spcAft>
              <a:buNone/>
            </a:pPr>
            <a:r>
              <a:rPr lang="en-US" sz="1250" dirty="0">
                <a:solidFill>
                  <a:srgbClr val="FF0000"/>
                </a:solidFill>
                <a:latin typeface="Calibri" pitchFamily="34" charset="0"/>
                <a:ea typeface="Calibri" pitchFamily="34" charset="-122"/>
                <a:cs typeface="Calibri" pitchFamily="34" charset="-120"/>
              </a:rPr>
              <a:t> Jika loss train terus turun tetapi loss val berbalik naik, model mulai menghafal data train (overfitting). </a:t>
            </a:r>
          </a:p>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Model terbaik ada di sekitar titik terendah loss val, dan itulah yang disimpan sebagai best.pt.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Kapan sebuah deteksi dianggap benar?</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23</a:t>
            </a:r>
            <a:endParaRPr lang="en-US" sz="900" dirty="0"/>
          </a:p>
        </p:txBody>
      </p:sp>
      <p:sp>
        <p:nvSpPr>
          <p:cNvPr id="6" name="Shape 3"/>
          <p:cNvSpPr/>
          <p:nvPr/>
        </p:nvSpPr>
        <p:spPr>
          <a:xfrm>
            <a:off x="731520" y="1280160"/>
            <a:ext cx="1645920" cy="1645920"/>
          </a:xfrm>
          <a:prstGeom prst="rect">
            <a:avLst/>
          </a:prstGeom>
          <a:solidFill>
            <a:srgbClr val="8FCBF0">
              <a:alpha val="45000"/>
            </a:srgbClr>
          </a:solidFill>
          <a:ln w="25400">
            <a:solidFill>
              <a:srgbClr val="2B7BC0"/>
            </a:solidFill>
            <a:prstDash val="solid"/>
          </a:ln>
        </p:spPr>
      </p:sp>
      <p:sp>
        <p:nvSpPr>
          <p:cNvPr id="7" name="Shape 4"/>
          <p:cNvSpPr/>
          <p:nvPr/>
        </p:nvSpPr>
        <p:spPr>
          <a:xfrm>
            <a:off x="1371600" y="1828800"/>
            <a:ext cx="1645920" cy="1645920"/>
          </a:xfrm>
          <a:prstGeom prst="rect">
            <a:avLst/>
          </a:prstGeom>
          <a:solidFill>
            <a:srgbClr val="F2A541">
              <a:alpha val="35000"/>
            </a:srgbClr>
          </a:solidFill>
          <a:ln w="25400">
            <a:solidFill>
              <a:srgbClr val="F2A541"/>
            </a:solidFill>
            <a:prstDash val="solid"/>
          </a:ln>
        </p:spPr>
      </p:sp>
      <p:sp>
        <p:nvSpPr>
          <p:cNvPr id="8" name="Text 5"/>
          <p:cNvSpPr txBox="1"/>
          <p:nvPr/>
        </p:nvSpPr>
        <p:spPr>
          <a:xfrm>
            <a:off x="731520" y="1005840"/>
            <a:ext cx="1097280" cy="228600"/>
          </a:xfrm>
          <a:prstGeom prst="rect">
            <a:avLst/>
          </a:prstGeom>
          <a:noFill/>
          <a:ln/>
        </p:spPr>
        <p:txBody>
          <a:bodyPr wrap="square" lIns="0" tIns="0" rIns="0" bIns="0" rtlCol="0" anchor="ctr"/>
          <a:lstStyle/>
          <a:p>
            <a:pPr marL="0" indent="0">
              <a:buNone/>
            </a:pPr>
            <a:r>
              <a:rPr lang="en-US" sz="1100" b="1" dirty="0">
                <a:solidFill>
                  <a:srgbClr val="2B7BC0"/>
                </a:solidFill>
                <a:latin typeface="Calibri" pitchFamily="34" charset="0"/>
                <a:ea typeface="Calibri" pitchFamily="34" charset="-122"/>
                <a:cs typeface="Calibri" pitchFamily="34" charset="-120"/>
              </a:rPr>
              <a:t>label</a:t>
            </a:r>
            <a:endParaRPr lang="en-US" sz="1100" dirty="0"/>
          </a:p>
        </p:txBody>
      </p:sp>
      <p:sp>
        <p:nvSpPr>
          <p:cNvPr id="9" name="Text 6"/>
          <p:cNvSpPr txBox="1"/>
          <p:nvPr/>
        </p:nvSpPr>
        <p:spPr>
          <a:xfrm>
            <a:off x="2194560" y="3520440"/>
            <a:ext cx="1097280" cy="228600"/>
          </a:xfrm>
          <a:prstGeom prst="rect">
            <a:avLst/>
          </a:prstGeom>
          <a:noFill/>
          <a:ln/>
        </p:spPr>
        <p:txBody>
          <a:bodyPr wrap="square" lIns="0" tIns="0" rIns="0" bIns="0" rtlCol="0" anchor="ctr"/>
          <a:lstStyle/>
          <a:p>
            <a:pPr marL="0" indent="0">
              <a:buNone/>
            </a:pPr>
            <a:r>
              <a:rPr lang="en-US" sz="1100" b="1" dirty="0">
                <a:solidFill>
                  <a:srgbClr val="B57314"/>
                </a:solidFill>
                <a:latin typeface="Calibri" pitchFamily="34" charset="0"/>
                <a:ea typeface="Calibri" pitchFamily="34" charset="-122"/>
                <a:cs typeface="Calibri" pitchFamily="34" charset="-120"/>
              </a:rPr>
              <a:t>tebakan</a:t>
            </a:r>
            <a:endParaRPr lang="en-US" sz="1100" dirty="0"/>
          </a:p>
        </p:txBody>
      </p:sp>
      <p:sp>
        <p:nvSpPr>
          <p:cNvPr id="10" name="Text 7"/>
          <p:cNvSpPr txBox="1"/>
          <p:nvPr/>
        </p:nvSpPr>
        <p:spPr>
          <a:xfrm>
            <a:off x="457200" y="3931920"/>
            <a:ext cx="3291840" cy="320040"/>
          </a:xfrm>
          <a:prstGeom prst="rect">
            <a:avLst/>
          </a:prstGeom>
          <a:noFill/>
          <a:ln/>
        </p:spPr>
        <p:txBody>
          <a:bodyPr wrap="square" lIns="0" tIns="0" rIns="0" bIns="0" rtlCol="0" anchor="ctr"/>
          <a:lstStyle/>
          <a:p>
            <a:pPr marL="0" indent="0">
              <a:buNone/>
            </a:pPr>
            <a:r>
              <a:rPr lang="en-US" sz="1150" dirty="0">
                <a:solidFill>
                  <a:srgbClr val="16324F"/>
                </a:solidFill>
                <a:latin typeface="Courier New" pitchFamily="34" charset="0"/>
                <a:ea typeface="Courier New" pitchFamily="34" charset="-122"/>
                <a:cs typeface="Courier New" pitchFamily="34" charset="-120"/>
              </a:rPr>
              <a:t>IoU = luas irisan ÷ luas gabungan</a:t>
            </a:r>
            <a:endParaRPr lang="en-US" sz="1150" dirty="0"/>
          </a:p>
        </p:txBody>
      </p:sp>
      <p:sp>
        <p:nvSpPr>
          <p:cNvPr id="11" name="Text 8"/>
          <p:cNvSpPr txBox="1"/>
          <p:nvPr/>
        </p:nvSpPr>
        <p:spPr>
          <a:xfrm>
            <a:off x="4023360" y="1051560"/>
            <a:ext cx="4663440" cy="118872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Untuk menilai model, setiap tebakan dibandingkan dengan label. Kedekatan dua kotak diukur dengan IoU (Intersection over Union): luas bagian yang tumpang tindih dibagi luas gabungannya, bernilai 0 sampai 1.</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023360" y="2331720"/>
          <a:ext cx="4663440" cy="1761744"/>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43891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Hasil</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Arti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438912">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TP (true positive)</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tebakan cocok dengan label: kelas benar dan IoU ≥ ambang, misalnya 0,5</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FP (false positive)</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tebakan tanpa pasangan label: objek palsu atau kotak meleset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FN (false negative)</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label tanpa tebakan: objek yang terlewat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12" name="Picture 11" descr="Confusion Matrix - Statistics By Jim">
            <a:extLst>
              <a:ext uri="{FF2B5EF4-FFF2-40B4-BE49-F238E27FC236}">
                <a16:creationId xmlns:a16="http://schemas.microsoft.com/office/drawing/2014/main" id="{BF9635B0-108A-72C7-C02F-A5657984553B}"/>
              </a:ext>
            </a:extLst>
          </p:cNvPr>
          <p:cNvPicPr>
            <a:picLocks noChangeAspect="1"/>
          </p:cNvPicPr>
          <p:nvPr/>
        </p:nvPicPr>
        <p:blipFill>
          <a:blip r:embed="rId3"/>
          <a:stretch>
            <a:fillRect/>
          </a:stretch>
        </p:blipFill>
        <p:spPr>
          <a:xfrm>
            <a:off x="7955280" y="0"/>
            <a:ext cx="1188720" cy="9704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Precision dan recall</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24</a:t>
            </a:r>
            <a:endParaRPr lang="en-US" sz="900" dirty="0"/>
          </a:p>
        </p:txBody>
      </p:sp>
      <p:sp>
        <p:nvSpPr>
          <p:cNvPr id="6" name="Shape 3"/>
          <p:cNvSpPr/>
          <p:nvPr/>
        </p:nvSpPr>
        <p:spPr>
          <a:xfrm>
            <a:off x="457200" y="1051560"/>
            <a:ext cx="4023360" cy="1463040"/>
          </a:xfrm>
          <a:prstGeom prst="roundRect">
            <a:avLst>
              <a:gd name="adj" fmla="val 500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7" name="Text 4"/>
          <p:cNvSpPr txBox="1"/>
          <p:nvPr/>
        </p:nvSpPr>
        <p:spPr>
          <a:xfrm>
            <a:off x="640080" y="1097280"/>
            <a:ext cx="3657600" cy="1371600"/>
          </a:xfrm>
          <a:prstGeom prst="rect">
            <a:avLst/>
          </a:prstGeom>
          <a:noFill/>
          <a:ln/>
        </p:spPr>
        <p:txBody>
          <a:bodyPr wrap="square" lIns="0" tIns="0" rIns="0" bIns="0" rtlCol="0" anchor="ctr"/>
          <a:lstStyle/>
          <a:p>
            <a:pPr marL="0" indent="0">
              <a:buNone/>
            </a:pPr>
            <a:r>
              <a:rPr lang="en-US" sz="1300" b="1" dirty="0">
                <a:solidFill>
                  <a:srgbClr val="16324F"/>
                </a:solidFill>
                <a:latin typeface="Courier New" pitchFamily="34" charset="0"/>
                <a:ea typeface="Courier New" pitchFamily="34" charset="-122"/>
                <a:cs typeface="Courier New" pitchFamily="34" charset="-120"/>
              </a:rPr>
              <a:t>Precision = TP / (TP + FP)</a:t>
            </a:r>
            <a:endParaRPr lang="en-US" sz="1300" dirty="0"/>
          </a:p>
          <a:p>
            <a:pPr marL="0" indent="0">
              <a:buNone/>
            </a:pPr>
            <a:r>
              <a:rPr lang="en-US" sz="1300" dirty="0">
                <a:solidFill>
                  <a:srgbClr val="1F2D3A"/>
                </a:solidFill>
                <a:latin typeface="Calibri" pitchFamily="34" charset="0"/>
                <a:ea typeface="Calibri" pitchFamily="34" charset="-122"/>
                <a:cs typeface="Calibri" pitchFamily="34" charset="-120"/>
              </a:rPr>
              <a:t>Dari semua kotak yang ditebak, berapa yang benar?</a:t>
            </a:r>
            <a:endParaRPr lang="en-US" sz="1300" dirty="0"/>
          </a:p>
        </p:txBody>
      </p:sp>
      <p:sp>
        <p:nvSpPr>
          <p:cNvPr id="8" name="Shape 5"/>
          <p:cNvSpPr/>
          <p:nvPr/>
        </p:nvSpPr>
        <p:spPr>
          <a:xfrm>
            <a:off x="4663440" y="1051560"/>
            <a:ext cx="4023360" cy="1463040"/>
          </a:xfrm>
          <a:prstGeom prst="roundRect">
            <a:avLst>
              <a:gd name="adj" fmla="val 5000"/>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9" name="Text 6"/>
          <p:cNvSpPr txBox="1"/>
          <p:nvPr/>
        </p:nvSpPr>
        <p:spPr>
          <a:xfrm>
            <a:off x="4846320" y="1097280"/>
            <a:ext cx="3657600" cy="1371600"/>
          </a:xfrm>
          <a:prstGeom prst="rect">
            <a:avLst/>
          </a:prstGeom>
          <a:noFill/>
          <a:ln/>
        </p:spPr>
        <p:txBody>
          <a:bodyPr wrap="square" lIns="0" tIns="0" rIns="0" bIns="0" rtlCol="0" anchor="ctr"/>
          <a:lstStyle/>
          <a:p>
            <a:pPr marL="0" indent="0">
              <a:buNone/>
            </a:pPr>
            <a:r>
              <a:rPr lang="en-US" sz="1300" b="1" dirty="0">
                <a:solidFill>
                  <a:srgbClr val="16324F"/>
                </a:solidFill>
                <a:latin typeface="Courier New" pitchFamily="34" charset="0"/>
                <a:ea typeface="Courier New" pitchFamily="34" charset="-122"/>
                <a:cs typeface="Courier New" pitchFamily="34" charset="-120"/>
              </a:rPr>
              <a:t>Recall = TP / (TP + FN)</a:t>
            </a:r>
            <a:endParaRPr lang="en-US" sz="1300" dirty="0"/>
          </a:p>
          <a:p>
            <a:pPr marL="0" indent="0">
              <a:buNone/>
            </a:pPr>
            <a:r>
              <a:rPr lang="en-US" sz="1300" dirty="0">
                <a:solidFill>
                  <a:srgbClr val="1F2D3A"/>
                </a:solidFill>
                <a:latin typeface="Calibri" pitchFamily="34" charset="0"/>
                <a:ea typeface="Calibri" pitchFamily="34" charset="-122"/>
                <a:cs typeface="Calibri" pitchFamily="34" charset="-120"/>
              </a:rPr>
              <a:t>Dari semua objek yang ada, berapa yang ditemukan?</a:t>
            </a:r>
            <a:endParaRPr lang="en-US" sz="1300" dirty="0"/>
          </a:p>
        </p:txBody>
      </p:sp>
      <p:sp>
        <p:nvSpPr>
          <p:cNvPr id="10" name="Text 7"/>
          <p:cNvSpPr txBox="1"/>
          <p:nvPr/>
        </p:nvSpPr>
        <p:spPr>
          <a:xfrm>
            <a:off x="457200" y="2697480"/>
            <a:ext cx="8229600" cy="10972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Contoh: dalam data val ada 12 objek. Model membuat 10 tebakan, 8 di antaranya benar (TP), 2 salah (FP), dan 4 objek terlewat (FN). Precision = 8 / (8 + 2) = 0,80, artinya tebakannya jarang salah. Recall = 8 / (8 + 4) = 0,67, artinya sepertiga objek masih terlewat.</a:t>
            </a:r>
            <a:endParaRPr lang="en-US" sz="1350" dirty="0"/>
          </a:p>
        </p:txBody>
      </p:sp>
      <p:sp>
        <p:nvSpPr>
          <p:cNvPr id="11" name="Text 8"/>
          <p:cNvSpPr txBox="1"/>
          <p:nvPr/>
        </p:nvSpPr>
        <p:spPr>
          <a:xfrm>
            <a:off x="457200" y="3794760"/>
            <a:ext cx="8229600" cy="868680"/>
          </a:xfrm>
          <a:prstGeom prst="rect">
            <a:avLst/>
          </a:prstGeom>
          <a:noFill/>
          <a:ln/>
        </p:spPr>
        <p:txBody>
          <a:bodyPr wrap="square" lIns="0" tIns="0" rIns="0" bIns="0" rtlCol="0" anchor="t"/>
          <a:lstStyle/>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Keduanya saling tarik-menarik. Menurunkan ambang keyakinan membuat model menebak lebih banyak: recall naik, tetapi precision turun. Untuk robot yang harus menghindari tabrakan, recall tinggi biasanya lebih penting; untuk sistem yang menghitung barang, precision tinggi lebih penting.</a:t>
            </a:r>
            <a:endParaRPr lang="en-US" sz="1250" dirty="0"/>
          </a:p>
        </p:txBody>
      </p:sp>
      <p:pic>
        <p:nvPicPr>
          <p:cNvPr id="5" name="Picture 4" descr="Confusion Matrix - Statistics By Jim">
            <a:extLst>
              <a:ext uri="{FF2B5EF4-FFF2-40B4-BE49-F238E27FC236}">
                <a16:creationId xmlns:a16="http://schemas.microsoft.com/office/drawing/2014/main" id="{6284153D-552D-6336-368E-7FCDD00EA24B}"/>
              </a:ext>
            </a:extLst>
          </p:cNvPr>
          <p:cNvPicPr>
            <a:picLocks noChangeAspect="1"/>
          </p:cNvPicPr>
          <p:nvPr/>
        </p:nvPicPr>
        <p:blipFill>
          <a:blip r:embed="rId3"/>
          <a:stretch>
            <a:fillRect/>
          </a:stretch>
        </p:blipFill>
        <p:spPr>
          <a:xfrm>
            <a:off x="7955280" y="0"/>
            <a:ext cx="1188720" cy="97042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AP dan mAP: satu angka untuk semuanya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25</a:t>
            </a:r>
            <a:endParaRPr lang="en-US" sz="900" dirty="0"/>
          </a:p>
        </p:txBody>
      </p:sp>
      <p:sp>
        <p:nvSpPr>
          <p:cNvPr id="6" name="Text 3"/>
          <p:cNvSpPr txBox="1"/>
          <p:nvPr/>
        </p:nvSpPr>
        <p:spPr>
          <a:xfrm>
            <a:off x="457200" y="1051560"/>
            <a:ext cx="8229600" cy="11887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Precision dan recall berubah-ubah tergantung ambang keyakinan. Agar bisa dibandingkan dengan satu angka, precision digambar terhadap recall untuk semua ambang (kurva precision-recall), lalu dihitung luas di bawah kurvanya. Luas ini disebut AP (average precision), dan dihitung untuk setiap kelas. Rata-rata AP semua kelas disebut mAP.</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1280160"/>
        </p:xfrm>
        <a:graphic>
          <a:graphicData uri="http://schemas.openxmlformats.org/drawingml/2006/table">
            <a:tbl>
              <a:tblPr/>
              <a:tblGrid>
                <a:gridCol w="1371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Metrik</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Arti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Kapan dipakai</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mAP50</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mAP dengan ambang IoU 0,50</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longgar: cukup jika kotak kira-kira tepat</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mAP50-95</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rata-rata mAP pada 10 ambang IoU: 0,50; 0,55; …; 0,95</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ketat: kotak harus benar-benar pas; ukuran utama COCO</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457200" y="3657600"/>
            <a:ext cx="8229600" cy="822960"/>
          </a:xfrm>
          <a:prstGeom prst="rect">
            <a:avLst/>
          </a:prstGeom>
          <a:noFill/>
          <a:ln/>
        </p:spPr>
        <p:txBody>
          <a:bodyPr wrap="square" lIns="0" tIns="0" rIns="0" bIns="0" rtlCol="0" anchor="t"/>
          <a:lstStyle/>
          <a:p>
            <a:pPr marL="0" indent="0">
              <a:spcAft>
                <a:spcPts val="600"/>
              </a:spcAft>
              <a:buNone/>
            </a:pPr>
            <a:r>
              <a:rPr lang="en-US" sz="1300" dirty="0">
                <a:solidFill>
                  <a:srgbClr val="1D5C94"/>
                </a:solidFill>
                <a:latin typeface="Calibri" pitchFamily="34" charset="0"/>
                <a:ea typeface="Calibri" pitchFamily="34" charset="-122"/>
                <a:cs typeface="Calibri" pitchFamily="34" charset="-120"/>
              </a:rPr>
              <a:t>Di praktik terpadu, model terbaik dipilih berdasarkan mAP50-95 di data val. Pembahasan evaluasi yang lebih mendalam, termasuk confusion matrix dan kecepatan inferensi, ada di minggu 8.</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File hasil pelatihan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26</a:t>
            </a:r>
            <a:endParaRPr lang="en-US" sz="900" dirty="0"/>
          </a:p>
        </p:txBody>
      </p:sp>
      <p:sp>
        <p:nvSpPr>
          <p:cNvPr id="6" name="Shape 3"/>
          <p:cNvSpPr/>
          <p:nvPr/>
        </p:nvSpPr>
        <p:spPr>
          <a:xfrm>
            <a:off x="457200" y="1051560"/>
            <a:ext cx="3657600" cy="2834640"/>
          </a:xfrm>
          <a:prstGeom prst="roundRect">
            <a:avLst>
              <a:gd name="adj" fmla="val 1935"/>
            </a:avLst>
          </a:prstGeom>
          <a:solidFill>
            <a:srgbClr val="18324D"/>
          </a:solidFill>
          <a:ln w="12700">
            <a:solidFill>
              <a:srgbClr val="18324D"/>
            </a:solidFill>
            <a:prstDash val="solid"/>
          </a:ln>
        </p:spPr>
      </p:sp>
      <p:sp>
        <p:nvSpPr>
          <p:cNvPr id="7" name="Text 4"/>
          <p:cNvSpPr txBox="1"/>
          <p:nvPr/>
        </p:nvSpPr>
        <p:spPr>
          <a:xfrm>
            <a:off x="594360" y="1143000"/>
            <a:ext cx="3383280" cy="265176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runs/detect/E1_pretrained/</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weights/</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best.pt</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 last.pt</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results.csv</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results.png</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confusion_matrix.png</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(kurva PR, F1, dll.)</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 args.yaml</a:t>
            </a:r>
            <a:endParaRPr lang="en-US" sz="1100" dirty="0"/>
          </a:p>
        </p:txBody>
      </p:sp>
      <p:sp>
        <p:nvSpPr>
          <p:cNvPr id="8" name="Text 5"/>
          <p:cNvSpPr txBox="1"/>
          <p:nvPr/>
        </p:nvSpPr>
        <p:spPr>
          <a:xfrm>
            <a:off x="4389120" y="1051560"/>
            <a:ext cx="4297680" cy="146304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Setiap pelatihan menghasilkan satu folder. best.pt adalah model dengan nilai val terbaik, yang dipakai untuk prediksi dan laporan. results.csv berisi angka loss dan metrik setiap epoch, dan results.png adalah grafiknya.</a:t>
            </a:r>
            <a:endParaRPr lang="en-US" sz="1350" dirty="0"/>
          </a:p>
        </p:txBody>
      </p:sp>
      <p:sp>
        <p:nvSpPr>
          <p:cNvPr id="9" name="Text 6"/>
          <p:cNvSpPr txBox="1"/>
          <p:nvPr/>
        </p:nvSpPr>
        <p:spPr>
          <a:xfrm>
            <a:off x="4389120" y="2560320"/>
            <a:ext cx="4297680" cy="16459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confusion_matrix.png menunjukkan kelas mana yang sering tertukar atau terlewat. args.yaml menyimpan semua pengaturan pelatihan, sehingga eksperimen bisa diulang persis sama. Biasakan menyimpan seluruh folder ini untuk laporan, bukan hanya angka mAP-nya.</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137160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MINGGU 7</a:t>
            </a:r>
            <a:endParaRPr lang="en-US" sz="1400" dirty="0"/>
          </a:p>
        </p:txBody>
      </p:sp>
      <p:sp>
        <p:nvSpPr>
          <p:cNvPr id="4" name="Text 2"/>
          <p:cNvSpPr txBox="1"/>
          <p:nvPr/>
        </p:nvSpPr>
        <p:spPr>
          <a:xfrm>
            <a:off x="548640" y="1783080"/>
            <a:ext cx="8046720" cy="1005840"/>
          </a:xfrm>
          <a:prstGeom prst="rect">
            <a:avLst/>
          </a:prstGeom>
          <a:noFill/>
          <a:ln/>
        </p:spPr>
        <p:txBody>
          <a:bodyPr wrap="square" lIns="0" tIns="0" rIns="0" bIns="0" rtlCol="0" anchor="t"/>
          <a:lstStyle/>
          <a:p>
            <a:pPr marL="0" indent="0">
              <a:buNone/>
            </a:pPr>
            <a:r>
              <a:rPr lang="en-US" sz="3400" b="1" dirty="0">
                <a:solidFill>
                  <a:srgbClr val="16324F"/>
                </a:solidFill>
                <a:latin typeface="Arial" pitchFamily="34" charset="0"/>
                <a:ea typeface="Arial" pitchFamily="34" charset="-122"/>
                <a:cs typeface="Arial" pitchFamily="34" charset="-120"/>
              </a:rPr>
              <a:t>Tuning dan evaluasi akhir</a:t>
            </a:r>
            <a:endParaRPr lang="en-US" sz="3400" dirty="0"/>
          </a:p>
        </p:txBody>
      </p:sp>
      <p:sp>
        <p:nvSpPr>
          <p:cNvPr id="5" name="Text 3"/>
          <p:cNvSpPr txBox="1"/>
          <p:nvPr/>
        </p:nvSpPr>
        <p:spPr>
          <a:xfrm>
            <a:off x="548640" y="2834640"/>
            <a:ext cx="8046720" cy="457200"/>
          </a:xfrm>
          <a:prstGeom prst="rect">
            <a:avLst/>
          </a:prstGeom>
          <a:noFill/>
          <a:ln/>
        </p:spPr>
        <p:txBody>
          <a:bodyPr wrap="square" lIns="0" tIns="0" rIns="0" bIns="0" rtlCol="0" anchor="ctr"/>
          <a:lstStyle/>
          <a:p>
            <a:pPr marL="0" indent="0">
              <a:buNone/>
            </a:pPr>
            <a:r>
              <a:rPr lang="en-US" sz="1500" dirty="0">
                <a:solidFill>
                  <a:srgbClr val="1D5C94"/>
                </a:solidFill>
                <a:latin typeface="Calibri" pitchFamily="34" charset="0"/>
                <a:ea typeface="Calibri" pitchFamily="34" charset="-122"/>
                <a:cs typeface="Calibri" pitchFamily="34" charset="-120"/>
              </a:rPr>
              <a:t>Memperbaiki model secara sistematis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Prinsip tuning: satu perubahan per eksperimen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28</a:t>
            </a:r>
            <a:endParaRPr lang="en-US" sz="900" dirty="0"/>
          </a:p>
        </p:txBody>
      </p:sp>
      <p:sp>
        <p:nvSpPr>
          <p:cNvPr id="6" name="Text 3"/>
          <p:cNvSpPr txBox="1"/>
          <p:nvPr/>
        </p:nvSpPr>
        <p:spPr>
          <a:xfrm>
            <a:off x="457200" y="1051560"/>
            <a:ext cx="8229600" cy="9144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Setelah punya baseline, godaan terbesarnya adalah mengubah banyak hal sekaligus. Masalahnya, jika hasil naik, kita tidak tahu perubahan mana yang membantu; jika turun, kita tidak tahu mana yang merusak.</a:t>
            </a:r>
            <a:endParaRPr lang="en-US" sz="1350" dirty="0"/>
          </a:p>
        </p:txBody>
      </p:sp>
      <p:sp>
        <p:nvSpPr>
          <p:cNvPr id="7" name="Text 4"/>
          <p:cNvSpPr txBox="1"/>
          <p:nvPr/>
        </p:nvSpPr>
        <p:spPr>
          <a:xfrm>
            <a:off x="457200" y="2011680"/>
            <a:ext cx="8229600" cy="15544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Karena itu tuning dilakukan seperti eksperimen ilmiah: ubah satu hal, pertahankan semua pengaturan lain, latih ulang, lalu bandingkan dengan baseline. Jika hasilnya membaik, perubahan itu dipertahankan dan menjadi baseline baru. Jika tidak, perubahan itu dibatalkan. Prinsip ini sama dengan eksperimen tiga mode di minggu 3, ketika satu-satunya perbedaan antar-mode adalah strategi pembekuannya.</a:t>
            </a:r>
            <a:endParaRPr lang="en-US" sz="1350" dirty="0"/>
          </a:p>
        </p:txBody>
      </p:sp>
      <p:sp>
        <p:nvSpPr>
          <p:cNvPr id="8" name="Shape 5"/>
          <p:cNvSpPr/>
          <p:nvPr/>
        </p:nvSpPr>
        <p:spPr>
          <a:xfrm>
            <a:off x="457200" y="3657600"/>
            <a:ext cx="1463040" cy="868680"/>
          </a:xfrm>
          <a:prstGeom prst="roundRect">
            <a:avLst>
              <a:gd name="adj" fmla="val 8421"/>
            </a:avLst>
          </a:prstGeom>
          <a:solidFill>
            <a:srgbClr val="E3F1FC"/>
          </a:solidFill>
          <a:ln w="9525">
            <a:solidFill>
              <a:srgbClr val="C7E0F4"/>
            </a:solidFill>
            <a:prstDash val="solid"/>
          </a:ln>
        </p:spPr>
      </p:sp>
      <p:sp>
        <p:nvSpPr>
          <p:cNvPr id="9" name="Text 6"/>
          <p:cNvSpPr txBox="1"/>
          <p:nvPr/>
        </p:nvSpPr>
        <p:spPr>
          <a:xfrm>
            <a:off x="512064" y="3657600"/>
            <a:ext cx="1353312" cy="86868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Baseline</a:t>
            </a:r>
            <a:endParaRPr lang="en-US" sz="1200" dirty="0"/>
          </a:p>
        </p:txBody>
      </p:sp>
      <p:sp>
        <p:nvSpPr>
          <p:cNvPr id="10" name="Text 7"/>
          <p:cNvSpPr txBox="1"/>
          <p:nvPr/>
        </p:nvSpPr>
        <p:spPr>
          <a:xfrm>
            <a:off x="1920240" y="3657600"/>
            <a:ext cx="228600" cy="86868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2148840" y="3657600"/>
            <a:ext cx="1463040" cy="868680"/>
          </a:xfrm>
          <a:prstGeom prst="roundRect">
            <a:avLst>
              <a:gd name="adj" fmla="val 8421"/>
            </a:avLst>
          </a:prstGeom>
          <a:solidFill>
            <a:srgbClr val="FDF1DE"/>
          </a:solidFill>
          <a:ln w="9525">
            <a:solidFill>
              <a:srgbClr val="C7E0F4"/>
            </a:solidFill>
            <a:prstDash val="solid"/>
          </a:ln>
        </p:spPr>
      </p:sp>
      <p:sp>
        <p:nvSpPr>
          <p:cNvPr id="12" name="Text 9"/>
          <p:cNvSpPr txBox="1"/>
          <p:nvPr/>
        </p:nvSpPr>
        <p:spPr>
          <a:xfrm>
            <a:off x="2203704" y="3657600"/>
            <a:ext cx="1353312" cy="86868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Ubah SATU hal</a:t>
            </a:r>
            <a:endParaRPr lang="en-US" sz="1200" dirty="0"/>
          </a:p>
        </p:txBody>
      </p:sp>
      <p:sp>
        <p:nvSpPr>
          <p:cNvPr id="13" name="Text 10"/>
          <p:cNvSpPr txBox="1"/>
          <p:nvPr/>
        </p:nvSpPr>
        <p:spPr>
          <a:xfrm>
            <a:off x="3611880" y="3657600"/>
            <a:ext cx="228600" cy="86868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3840480" y="3657600"/>
            <a:ext cx="1463040" cy="868680"/>
          </a:xfrm>
          <a:prstGeom prst="roundRect">
            <a:avLst>
              <a:gd name="adj" fmla="val 8421"/>
            </a:avLst>
          </a:prstGeom>
          <a:solidFill>
            <a:srgbClr val="FFFFFF"/>
          </a:solidFill>
          <a:ln w="9525">
            <a:solidFill>
              <a:srgbClr val="C7E0F4"/>
            </a:solidFill>
            <a:prstDash val="solid"/>
          </a:ln>
        </p:spPr>
      </p:sp>
      <p:sp>
        <p:nvSpPr>
          <p:cNvPr id="15" name="Text 12"/>
          <p:cNvSpPr txBox="1"/>
          <p:nvPr/>
        </p:nvSpPr>
        <p:spPr>
          <a:xfrm>
            <a:off x="3895344" y="3657600"/>
            <a:ext cx="1353312" cy="86868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Latih ulang</a:t>
            </a:r>
            <a:endParaRPr lang="en-US" sz="1200" dirty="0"/>
          </a:p>
        </p:txBody>
      </p:sp>
      <p:sp>
        <p:nvSpPr>
          <p:cNvPr id="16" name="Text 13"/>
          <p:cNvSpPr txBox="1"/>
          <p:nvPr/>
        </p:nvSpPr>
        <p:spPr>
          <a:xfrm>
            <a:off x="5303520" y="3657600"/>
            <a:ext cx="228600" cy="86868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5532120" y="3657600"/>
            <a:ext cx="1463040" cy="868680"/>
          </a:xfrm>
          <a:prstGeom prst="roundRect">
            <a:avLst>
              <a:gd name="adj" fmla="val 8421"/>
            </a:avLst>
          </a:prstGeom>
          <a:solidFill>
            <a:srgbClr val="FFFFFF"/>
          </a:solidFill>
          <a:ln w="9525">
            <a:solidFill>
              <a:srgbClr val="C7E0F4"/>
            </a:solidFill>
            <a:prstDash val="solid"/>
          </a:ln>
        </p:spPr>
      </p:sp>
      <p:sp>
        <p:nvSpPr>
          <p:cNvPr id="18" name="Text 15"/>
          <p:cNvSpPr txBox="1"/>
          <p:nvPr/>
        </p:nvSpPr>
        <p:spPr>
          <a:xfrm>
            <a:off x="5586984" y="3657600"/>
            <a:ext cx="1353312" cy="86868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Bandingkan di val</a:t>
            </a:r>
            <a:endParaRPr lang="en-US" sz="1200" dirty="0"/>
          </a:p>
        </p:txBody>
      </p:sp>
      <p:sp>
        <p:nvSpPr>
          <p:cNvPr id="19" name="Text 16"/>
          <p:cNvSpPr txBox="1"/>
          <p:nvPr/>
        </p:nvSpPr>
        <p:spPr>
          <a:xfrm>
            <a:off x="6995160" y="3657600"/>
            <a:ext cx="228600" cy="868680"/>
          </a:xfrm>
          <a:prstGeom prst="rect">
            <a:avLst/>
          </a:prstGeom>
          <a:noFill/>
          <a:ln/>
        </p:spPr>
        <p:txBody>
          <a:bodyPr wrap="square" lIns="0" tIns="0" rIns="0" bIns="0" rtlCol="0" anchor="ctr"/>
          <a:lstStyle/>
          <a:p>
            <a:pPr marL="0" indent="0" algn="ctr">
              <a:buNone/>
            </a:pPr>
            <a:r>
              <a:rPr lang="en-US" sz="2000" b="1" dirty="0">
                <a:solidFill>
                  <a:srgbClr val="2B7BC0"/>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7223760" y="3657600"/>
            <a:ext cx="1463040" cy="868680"/>
          </a:xfrm>
          <a:prstGeom prst="roundRect">
            <a:avLst>
              <a:gd name="adj" fmla="val 8421"/>
            </a:avLst>
          </a:prstGeom>
          <a:solidFill>
            <a:srgbClr val="E3F1FC"/>
          </a:solidFill>
          <a:ln w="9525">
            <a:solidFill>
              <a:srgbClr val="C7E0F4"/>
            </a:solidFill>
            <a:prstDash val="solid"/>
          </a:ln>
        </p:spPr>
      </p:sp>
      <p:sp>
        <p:nvSpPr>
          <p:cNvPr id="21" name="Text 18"/>
          <p:cNvSpPr txBox="1"/>
          <p:nvPr/>
        </p:nvSpPr>
        <p:spPr>
          <a:xfrm>
            <a:off x="7278624" y="3657600"/>
            <a:ext cx="1353312" cy="868680"/>
          </a:xfrm>
          <a:prstGeom prst="rect">
            <a:avLst/>
          </a:prstGeom>
          <a:noFill/>
          <a:ln/>
        </p:spPr>
        <p:txBody>
          <a:bodyPr wrap="square" lIns="0" tIns="0" rIns="0" bIns="0" rtlCol="0" anchor="ctr"/>
          <a:lstStyle/>
          <a:p>
            <a:pPr marL="0" indent="0" algn="ctr">
              <a:buNone/>
            </a:pPr>
            <a:r>
              <a:rPr lang="en-US" sz="1200" b="1" dirty="0">
                <a:solidFill>
                  <a:srgbClr val="16324F"/>
                </a:solidFill>
                <a:latin typeface="Calibri" pitchFamily="34" charset="0"/>
                <a:ea typeface="Calibri" pitchFamily="34" charset="-122"/>
                <a:cs typeface="Calibri" pitchFamily="34" charset="-120"/>
              </a:rPr>
              <a:t>Pertahankan atau batalkan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Apa saja yang bisa diubah?</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560320"/>
        </p:xfrm>
        <a:graphic>
          <a:graphicData uri="http://schemas.openxmlformats.org/drawingml/2006/table">
            <a:tbl>
              <a:tblPr/>
              <a:tblGrid>
                <a:gridCol w="1645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Yang diubah</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Contoh</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Dicoba jika</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Lama pelatihan</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epochs=60 patience=20</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kurva mAP val masih naik di epoch terakhir</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Ukuran input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imgsz=640</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objek kecil sering terlewat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Ukuran model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model=yolo26s.pt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akurasi kurang dan komputasi masih longgar</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Learning rate</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optimizer=SGD lr0=0.005</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loss naik-turun tidak stabil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Augmentasi</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degrees=10, hsv_v=0.6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model gagal pada kondisi miring atau redup</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Data</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dataset_v2 (tambah kelas minoritas)</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confusion matrix menunjukkan kelas tertentu lemah</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3"/>
          <p:cNvSpPr txBox="1"/>
          <p:nvPr/>
        </p:nvSpPr>
        <p:spPr>
          <a:xfrm>
            <a:off x="457200" y="3749040"/>
            <a:ext cx="8229600" cy="868680"/>
          </a:xfrm>
          <a:prstGeom prst="rect">
            <a:avLst/>
          </a:prstGeom>
          <a:noFill/>
          <a:ln/>
        </p:spPr>
        <p:txBody>
          <a:bodyPr wrap="square" lIns="0" tIns="0" rIns="0" bIns="0" rtlCol="0" anchor="t"/>
          <a:lstStyle/>
          <a:p>
            <a:pPr marL="0" indent="0">
              <a:spcAft>
                <a:spcPts val="600"/>
              </a:spcAft>
              <a:buNone/>
            </a:pPr>
            <a:r>
              <a:rPr lang="en-US" sz="1250" dirty="0">
                <a:solidFill>
                  <a:srgbClr val="1F2D3A"/>
                </a:solidFill>
                <a:latin typeface="Calibri" pitchFamily="34" charset="0"/>
                <a:ea typeface="Calibri" pitchFamily="34" charset="-122"/>
                <a:cs typeface="Calibri" pitchFamily="34" charset="-120"/>
              </a:rPr>
              <a:t>Catatan learning rate: dengan pengaturan bawaan optimizer=auto, Ultralytics memilih optimizer dan learning rate sendiri dan mengabaikan lr0. Agar lr0 benar-benar dipakai, tetapkan optimizer secara eksplisit. Dalam praktik, perubahan pada data sering memberi peningkatan terbesar.</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Mencatat setiap eksperimen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828800">
                  <a:extLst>
                    <a:ext uri="{9D8B030D-6E8A-4147-A177-3AD203B41FA5}">
                      <a16:colId xmlns:a16="http://schemas.microsoft.com/office/drawing/2014/main" val="20006"/>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Eksperimen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Perubahan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mAP50</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mAP50-95</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ms/gambar</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Kesimpulan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E1_pretrained</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 (baseline)</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v1</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titik pembanding</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E2_scratch</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bobot acak</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v1</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manfaat transfer learning</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E3_tuning</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imgsz=640</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v1</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dipertahankan / dibatalkan</a:t>
                      </a:r>
                      <a:endParaRPr lang="en-US" sz="11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457200" y="2743200"/>
            <a:ext cx="8229600" cy="10972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Setiap eksperimen dicatat dalam satu baris: apa yang diubah, versi dataset, hasilnya, dan kesimpulannya. Tanpa catatan, setelah beberapa hari kita tidak ingat lagi pengaturan mana yang menghasilkan model terbaik. Program praktik terpadu membuat tabel seperti ini secara otomatis untuk tiga eksperimen pertama.</a:t>
            </a:r>
            <a:endParaRPr lang="en-US" sz="1350" dirty="0"/>
          </a:p>
        </p:txBody>
      </p:sp>
      <p:sp>
        <p:nvSpPr>
          <p:cNvPr id="8" name="Text 4"/>
          <p:cNvSpPr txBox="1"/>
          <p:nvPr/>
        </p:nvSpPr>
        <p:spPr>
          <a:xfrm>
            <a:off x="457200" y="3931920"/>
            <a:ext cx="822960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Angka diisi dari hasil pelatihan masing-masing kelompok.</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Memilih model dan menguji di data test</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31</a:t>
            </a:r>
            <a:endParaRPr lang="en-US" sz="900" dirty="0"/>
          </a:p>
        </p:txBody>
      </p:sp>
      <p:sp>
        <p:nvSpPr>
          <p:cNvPr id="6" name="Text 3"/>
          <p:cNvSpPr txBox="1"/>
          <p:nvPr/>
        </p:nvSpPr>
        <p:spPr>
          <a:xfrm>
            <a:off x="457200" y="1051560"/>
            <a:ext cx="8229600" cy="118872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Model dipilih berdasarkan mAP50-95 di data val. Setelah model terpilih, barulah data test dipakai, dan hanya sekali. Angka test inilah yang dilaporkan sebagai kinerja akhir. Jika data test dipakai berulang kali untuk memilih, test berubah menjadi val kedua dan angkanya tidak lagi jujur.</a:t>
            </a:r>
            <a:endParaRPr lang="en-US" sz="1350" dirty="0"/>
          </a:p>
        </p:txBody>
      </p:sp>
      <p:sp>
        <p:nvSpPr>
          <p:cNvPr id="7" name="Text 4"/>
          <p:cNvSpPr txBox="1"/>
          <p:nvPr/>
        </p:nvSpPr>
        <p:spPr>
          <a:xfrm>
            <a:off x="457200" y="2286000"/>
            <a:ext cx="8229600" cy="128016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Akurasi bukan satu-satunya pertimbangan. Model yang lebih besar atau dengan imgsz lebih besar biasanya lebih akurat, tetapi lebih lambat. Bandingkan waktu inferensi per gambar dengan anggaran latensi di dokumen desain minggu 3. Model terbaik adalah yang cukup akurat dan masih memenuhi target FPS di perangkat yang dipakai.</a:t>
            </a:r>
            <a:endParaRPr lang="en-US" sz="1350" dirty="0"/>
          </a:p>
        </p:txBody>
      </p:sp>
      <p:sp>
        <p:nvSpPr>
          <p:cNvPr id="8" name="Shape 5"/>
          <p:cNvSpPr/>
          <p:nvPr/>
        </p:nvSpPr>
        <p:spPr>
          <a:xfrm>
            <a:off x="457200" y="3657600"/>
            <a:ext cx="8229600" cy="548640"/>
          </a:xfrm>
          <a:prstGeom prst="roundRect">
            <a:avLst>
              <a:gd name="adj" fmla="val 10000"/>
            </a:avLst>
          </a:prstGeom>
          <a:solidFill>
            <a:srgbClr val="18324D"/>
          </a:solidFill>
          <a:ln w="12700">
            <a:solidFill>
              <a:srgbClr val="18324D"/>
            </a:solidFill>
            <a:prstDash val="solid"/>
          </a:ln>
        </p:spPr>
      </p:sp>
      <p:sp>
        <p:nvSpPr>
          <p:cNvPr id="9" name="Text 6"/>
          <p:cNvSpPr txBox="1"/>
          <p:nvPr/>
        </p:nvSpPr>
        <p:spPr>
          <a:xfrm>
            <a:off x="594360" y="3749040"/>
            <a:ext cx="7955280" cy="365760"/>
          </a:xfrm>
          <a:prstGeom prst="rect">
            <a:avLst/>
          </a:prstGeom>
          <a:noFill/>
          <a:ln/>
        </p:spPr>
        <p:txBody>
          <a:bodyPr wrap="square" lIns="0" tIns="0" rIns="0" bIns="0" rtlCol="0" anchor="t"/>
          <a:lstStyle/>
          <a:p>
            <a:pPr marL="0" indent="0">
              <a:buNone/>
            </a:pPr>
            <a:r>
              <a:rPr lang="en-US" sz="1050" dirty="0">
                <a:solidFill>
                  <a:srgbClr val="E6F1FB"/>
                </a:solidFill>
                <a:latin typeface="Courier New" pitchFamily="34" charset="0"/>
                <a:ea typeface="Courier New" pitchFamily="34" charset="-122"/>
                <a:cs typeface="Courier New" pitchFamily="34" charset="-120"/>
              </a:rPr>
              <a:t>yolo detect val model=hasil_praktik/E3_tuning/weights/best.pt data=dataset_v1/data.yaml split=test</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Pj1: Perception System Concept and Design</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32</a:t>
            </a:r>
            <a:endParaRPr lang="en-US" sz="900" dirty="0"/>
          </a:p>
        </p:txBody>
      </p:sp>
      <p:sp>
        <p:nvSpPr>
          <p:cNvPr id="6" name="Text 3"/>
          <p:cNvSpPr txBox="1"/>
          <p:nvPr/>
        </p:nvSpPr>
        <p:spPr>
          <a:xfrm>
            <a:off x="457200" y="1051560"/>
            <a:ext cx="8229600" cy="8686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Minggu 7 ditutup dengan Pj1, yang menurut RPS menggabungkan seluruh materi minggu 3–7 untuk projek kelompok. Pj1 menunjukkan bahwa kelompok bisa merancang sistem persepsi dari tujuan projek sampai model yang terukur.</a:t>
            </a:r>
            <a:endParaRPr lang="en-US" sz="1350" dirty="0"/>
          </a:p>
        </p:txBody>
      </p:sp>
      <p:sp>
        <p:nvSpPr>
          <p:cNvPr id="7" name="Shape 4"/>
          <p:cNvSpPr/>
          <p:nvPr/>
        </p:nvSpPr>
        <p:spPr>
          <a:xfrm>
            <a:off x="457200" y="2011680"/>
            <a:ext cx="8229600" cy="429768"/>
          </a:xfrm>
          <a:prstGeom prst="roundRect">
            <a:avLst>
              <a:gd name="adj" fmla="val 17021"/>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8" name="Shape 5"/>
          <p:cNvSpPr/>
          <p:nvPr/>
        </p:nvSpPr>
        <p:spPr>
          <a:xfrm>
            <a:off x="566928" y="2057400"/>
            <a:ext cx="338328" cy="338328"/>
          </a:xfrm>
          <a:prstGeom prst="ellipse">
            <a:avLst/>
          </a:prstGeom>
          <a:solidFill>
            <a:srgbClr val="2B7BC0"/>
          </a:solidFill>
          <a:ln w="12700">
            <a:solidFill>
              <a:srgbClr val="2B7BC0"/>
            </a:solidFill>
            <a:prstDash val="solid"/>
          </a:ln>
        </p:spPr>
      </p:sp>
      <p:sp>
        <p:nvSpPr>
          <p:cNvPr id="9" name="Text 6"/>
          <p:cNvSpPr txBox="1"/>
          <p:nvPr/>
        </p:nvSpPr>
        <p:spPr>
          <a:xfrm>
            <a:off x="566928" y="205740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7"/>
          <p:cNvSpPr txBox="1"/>
          <p:nvPr/>
        </p:nvSpPr>
        <p:spPr>
          <a:xfrm>
            <a:off x="1051560" y="2011680"/>
            <a:ext cx="7498080" cy="429768"/>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Menentukan lingkup persepsi dari misi projek</a:t>
            </a:r>
            <a:endParaRPr lang="en-US" sz="1300" dirty="0"/>
          </a:p>
        </p:txBody>
      </p:sp>
      <p:sp>
        <p:nvSpPr>
          <p:cNvPr id="11" name="Shape 8"/>
          <p:cNvSpPr/>
          <p:nvPr/>
        </p:nvSpPr>
        <p:spPr>
          <a:xfrm>
            <a:off x="457200" y="2514600"/>
            <a:ext cx="8229600" cy="429768"/>
          </a:xfrm>
          <a:prstGeom prst="roundRect">
            <a:avLst>
              <a:gd name="adj" fmla="val 17021"/>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12" name="Shape 9"/>
          <p:cNvSpPr/>
          <p:nvPr/>
        </p:nvSpPr>
        <p:spPr>
          <a:xfrm>
            <a:off x="566928" y="2560320"/>
            <a:ext cx="338328" cy="338328"/>
          </a:xfrm>
          <a:prstGeom prst="ellipse">
            <a:avLst/>
          </a:prstGeom>
          <a:solidFill>
            <a:srgbClr val="2B7BC0"/>
          </a:solidFill>
          <a:ln w="12700">
            <a:solidFill>
              <a:srgbClr val="2B7BC0"/>
            </a:solidFill>
            <a:prstDash val="solid"/>
          </a:ln>
        </p:spPr>
      </p:sp>
      <p:sp>
        <p:nvSpPr>
          <p:cNvPr id="13" name="Text 10"/>
          <p:cNvSpPr txBox="1"/>
          <p:nvPr/>
        </p:nvSpPr>
        <p:spPr>
          <a:xfrm>
            <a:off x="566928" y="256032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1"/>
          <p:cNvSpPr txBox="1"/>
          <p:nvPr/>
        </p:nvSpPr>
        <p:spPr>
          <a:xfrm>
            <a:off x="1051560" y="2514600"/>
            <a:ext cx="7498080" cy="429768"/>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Menetapkan target kinerja: mAP, FPS, dan latensi</a:t>
            </a:r>
            <a:endParaRPr lang="en-US" sz="1300" dirty="0"/>
          </a:p>
        </p:txBody>
      </p:sp>
      <p:sp>
        <p:nvSpPr>
          <p:cNvPr id="15" name="Shape 12"/>
          <p:cNvSpPr/>
          <p:nvPr/>
        </p:nvSpPr>
        <p:spPr>
          <a:xfrm>
            <a:off x="457200" y="3017520"/>
            <a:ext cx="8229600" cy="429768"/>
          </a:xfrm>
          <a:prstGeom prst="roundRect">
            <a:avLst>
              <a:gd name="adj" fmla="val 17021"/>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16" name="Shape 13"/>
          <p:cNvSpPr/>
          <p:nvPr/>
        </p:nvSpPr>
        <p:spPr>
          <a:xfrm>
            <a:off x="566928" y="3063240"/>
            <a:ext cx="338328" cy="338328"/>
          </a:xfrm>
          <a:prstGeom prst="ellipse">
            <a:avLst/>
          </a:prstGeom>
          <a:solidFill>
            <a:srgbClr val="2B7BC0"/>
          </a:solidFill>
          <a:ln w="12700">
            <a:solidFill>
              <a:srgbClr val="2B7BC0"/>
            </a:solidFill>
            <a:prstDash val="solid"/>
          </a:ln>
        </p:spPr>
      </p:sp>
      <p:sp>
        <p:nvSpPr>
          <p:cNvPr id="17" name="Text 14"/>
          <p:cNvSpPr txBox="1"/>
          <p:nvPr/>
        </p:nvSpPr>
        <p:spPr>
          <a:xfrm>
            <a:off x="566928" y="306324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txBox="1"/>
          <p:nvPr/>
        </p:nvSpPr>
        <p:spPr>
          <a:xfrm>
            <a:off x="1051560" y="3017520"/>
            <a:ext cx="7498080" cy="429768"/>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Merancang pipeline sesuai kamera, posisi, dan perangkat</a:t>
            </a:r>
            <a:endParaRPr lang="en-US" sz="1300" dirty="0"/>
          </a:p>
        </p:txBody>
      </p:sp>
      <p:sp>
        <p:nvSpPr>
          <p:cNvPr id="19" name="Shape 16"/>
          <p:cNvSpPr/>
          <p:nvPr/>
        </p:nvSpPr>
        <p:spPr>
          <a:xfrm>
            <a:off x="457200" y="3520440"/>
            <a:ext cx="8229600" cy="429768"/>
          </a:xfrm>
          <a:prstGeom prst="roundRect">
            <a:avLst>
              <a:gd name="adj" fmla="val 17021"/>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20" name="Shape 17"/>
          <p:cNvSpPr/>
          <p:nvPr/>
        </p:nvSpPr>
        <p:spPr>
          <a:xfrm>
            <a:off x="566928" y="3566160"/>
            <a:ext cx="338328" cy="338328"/>
          </a:xfrm>
          <a:prstGeom prst="ellipse">
            <a:avLst/>
          </a:prstGeom>
          <a:solidFill>
            <a:srgbClr val="2B7BC0"/>
          </a:solidFill>
          <a:ln w="12700">
            <a:solidFill>
              <a:srgbClr val="2B7BC0"/>
            </a:solidFill>
            <a:prstDash val="solid"/>
          </a:ln>
        </p:spPr>
      </p:sp>
      <p:sp>
        <p:nvSpPr>
          <p:cNvPr id="21" name="Text 18"/>
          <p:cNvSpPr txBox="1"/>
          <p:nvPr/>
        </p:nvSpPr>
        <p:spPr>
          <a:xfrm>
            <a:off x="566928" y="356616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19"/>
          <p:cNvSpPr txBox="1"/>
          <p:nvPr/>
        </p:nvSpPr>
        <p:spPr>
          <a:xfrm>
            <a:off x="1051560" y="3520440"/>
            <a:ext cx="7498080" cy="429768"/>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Mengambil dan menganotasi dataset format YOLO/COCO</a:t>
            </a:r>
            <a:endParaRPr lang="en-US" sz="1300" dirty="0"/>
          </a:p>
        </p:txBody>
      </p:sp>
      <p:sp>
        <p:nvSpPr>
          <p:cNvPr id="23" name="Shape 20"/>
          <p:cNvSpPr/>
          <p:nvPr/>
        </p:nvSpPr>
        <p:spPr>
          <a:xfrm>
            <a:off x="457200" y="4023360"/>
            <a:ext cx="8229600" cy="429768"/>
          </a:xfrm>
          <a:prstGeom prst="roundRect">
            <a:avLst>
              <a:gd name="adj" fmla="val 17021"/>
            </a:avLst>
          </a:prstGeom>
          <a:solidFill>
            <a:srgbClr val="FFFFFF"/>
          </a:solidFill>
          <a:ln w="9525">
            <a:solidFill>
              <a:srgbClr val="C7E0F4"/>
            </a:solidFill>
            <a:prstDash val="solid"/>
          </a:ln>
          <a:effectLst>
            <a:outerShdw blurRad="76200" dist="25400" dir="5400000" algn="bl" rotWithShape="0">
              <a:srgbClr val="1D5C94">
                <a:alpha val="10000"/>
              </a:srgbClr>
            </a:outerShdw>
          </a:effectLst>
        </p:spPr>
      </p:sp>
      <p:sp>
        <p:nvSpPr>
          <p:cNvPr id="24" name="Shape 21"/>
          <p:cNvSpPr/>
          <p:nvPr/>
        </p:nvSpPr>
        <p:spPr>
          <a:xfrm>
            <a:off x="566928" y="4069080"/>
            <a:ext cx="338328" cy="338328"/>
          </a:xfrm>
          <a:prstGeom prst="ellipse">
            <a:avLst/>
          </a:prstGeom>
          <a:solidFill>
            <a:srgbClr val="2B7BC0"/>
          </a:solidFill>
          <a:ln w="12700">
            <a:solidFill>
              <a:srgbClr val="2B7BC0"/>
            </a:solidFill>
            <a:prstDash val="solid"/>
          </a:ln>
        </p:spPr>
      </p:sp>
      <p:sp>
        <p:nvSpPr>
          <p:cNvPr id="25" name="Text 22"/>
          <p:cNvSpPr txBox="1"/>
          <p:nvPr/>
        </p:nvSpPr>
        <p:spPr>
          <a:xfrm>
            <a:off x="566928" y="406908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6" name="Text 23"/>
          <p:cNvSpPr txBox="1"/>
          <p:nvPr/>
        </p:nvSpPr>
        <p:spPr>
          <a:xfrm>
            <a:off x="1051560" y="4023360"/>
            <a:ext cx="7498080" cy="429768"/>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Melatih dan melakukan tuning baseline YOLO dengan log eksperimen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137160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PRAKTIK TERPADU</a:t>
            </a:r>
            <a:endParaRPr lang="en-US" sz="1400" dirty="0"/>
          </a:p>
        </p:txBody>
      </p:sp>
      <p:sp>
        <p:nvSpPr>
          <p:cNvPr id="4" name="Text 2"/>
          <p:cNvSpPr txBox="1"/>
          <p:nvPr/>
        </p:nvSpPr>
        <p:spPr>
          <a:xfrm>
            <a:off x="548640" y="1783080"/>
            <a:ext cx="8046720" cy="1005840"/>
          </a:xfrm>
          <a:prstGeom prst="rect">
            <a:avLst/>
          </a:prstGeom>
          <a:noFill/>
          <a:ln/>
        </p:spPr>
        <p:txBody>
          <a:bodyPr wrap="square" lIns="0" tIns="0" rIns="0" bIns="0" rtlCol="0" anchor="t"/>
          <a:lstStyle/>
          <a:p>
            <a:pPr marL="0" indent="0">
              <a:buNone/>
            </a:pPr>
            <a:r>
              <a:rPr lang="en-US" sz="3400" b="1" dirty="0">
                <a:solidFill>
                  <a:srgbClr val="16324F"/>
                </a:solidFill>
                <a:latin typeface="Arial" pitchFamily="34" charset="0"/>
                <a:ea typeface="Arial" pitchFamily="34" charset="-122"/>
                <a:cs typeface="Arial" pitchFamily="34" charset="-120"/>
              </a:rPr>
              <a:t>Dari COCO ke detektor YOLO</a:t>
            </a:r>
            <a:endParaRPr lang="en-US" sz="3400" dirty="0"/>
          </a:p>
        </p:txBody>
      </p:sp>
      <p:sp>
        <p:nvSpPr>
          <p:cNvPr id="5" name="Text 3"/>
          <p:cNvSpPr txBox="1"/>
          <p:nvPr/>
        </p:nvSpPr>
        <p:spPr>
          <a:xfrm>
            <a:off x="548640" y="2834640"/>
            <a:ext cx="8046720" cy="457200"/>
          </a:xfrm>
          <a:prstGeom prst="rect">
            <a:avLst/>
          </a:prstGeom>
          <a:noFill/>
          <a:ln/>
        </p:spPr>
        <p:txBody>
          <a:bodyPr wrap="square" lIns="0" tIns="0" rIns="0" bIns="0" rtlCol="0" anchor="ctr"/>
          <a:lstStyle/>
          <a:p>
            <a:pPr marL="0" indent="0">
              <a:buNone/>
            </a:pPr>
            <a:r>
              <a:rPr lang="en-US" sz="1500" dirty="0">
                <a:solidFill>
                  <a:srgbClr val="1D5C94"/>
                </a:solidFill>
                <a:latin typeface="Calibri" pitchFamily="34" charset="0"/>
                <a:ea typeface="Calibri" pitchFamily="34" charset="-122"/>
                <a:cs typeface="Calibri" pitchFamily="34" charset="-120"/>
              </a:rPr>
              <a:t>Satu praktik yang mencakup minggu 4–7</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Gambaran praktik terpadu</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304288"/>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Tahap</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Minggu</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Kegiatan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Ambil subset COCO (3 kelas pilihan kelompok), cek, konversi</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00, 01, 02, 03</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Bagi train/val/test, buat data.yaml, tentukan augmentasi</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Latih E1 pretrained dan E2 dari nol</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Latih E3 dengan satu perubahan</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6–7</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Pilih model dengan val, uji sekali dengan test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Laporan: tabel, grafik, kesimpulan</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150" dirty="0">
                          <a:solidFill>
                            <a:srgbClr val="1F2D3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3"/>
          <p:cNvSpPr txBox="1"/>
          <p:nvPr/>
        </p:nvSpPr>
        <p:spPr>
          <a:xfrm>
            <a:off x="457200" y="3474720"/>
            <a:ext cx="8229600" cy="109728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Praktik ini satu alur dari awal sampai akhir. Tahap 3–5 dijalankan oleh satu program sekaligus. Pelatihan butuh waktu, jadi gunakan GPU di lab atau Google Colab, dan bagi praktik ke beberapa sesi lab dengan checkpoint per tahap.</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Tahap 1–2: menyiapkan data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35</a:t>
            </a:r>
            <a:endParaRPr lang="en-US" sz="900" dirty="0"/>
          </a:p>
        </p:txBody>
      </p:sp>
      <p:sp>
        <p:nvSpPr>
          <p:cNvPr id="6" name="Shape 3"/>
          <p:cNvSpPr/>
          <p:nvPr/>
        </p:nvSpPr>
        <p:spPr>
          <a:xfrm>
            <a:off x="457200" y="1051560"/>
            <a:ext cx="8229600" cy="1463040"/>
          </a:xfrm>
          <a:prstGeom prst="roundRect">
            <a:avLst>
              <a:gd name="adj" fmla="val 3750"/>
            </a:avLst>
          </a:prstGeom>
          <a:solidFill>
            <a:srgbClr val="18324D"/>
          </a:solidFill>
          <a:ln w="12700">
            <a:solidFill>
              <a:srgbClr val="18324D"/>
            </a:solidFill>
            <a:prstDash val="solid"/>
          </a:ln>
        </p:spPr>
      </p:sp>
      <p:sp>
        <p:nvSpPr>
          <p:cNvPr id="7" name="Text 4"/>
          <p:cNvSpPr txBox="1"/>
          <p:nvPr/>
        </p:nvSpPr>
        <p:spPr>
          <a:xfrm>
            <a:off x="594360" y="1143000"/>
            <a:ext cx="7955280" cy="1280160"/>
          </a:xfrm>
          <a:prstGeom prst="rect">
            <a:avLst/>
          </a:prstGeom>
          <a:noFill/>
          <a:ln/>
        </p:spPr>
        <p:txBody>
          <a:bodyPr wrap="square" lIns="0" tIns="0" rIns="0" bIns="0" rtlCol="0" anchor="t"/>
          <a:lstStyle/>
          <a:p>
            <a:pPr marL="0" indent="0">
              <a:buNone/>
            </a:pPr>
            <a:r>
              <a:rPr lang="en-US" sz="1100" dirty="0">
                <a:solidFill>
                  <a:srgbClr val="E6F1FB"/>
                </a:solidFill>
                <a:latin typeface="Courier New" pitchFamily="34" charset="0"/>
                <a:ea typeface="Courier New" pitchFamily="34" charset="-122"/>
                <a:cs typeface="Courier New" pitchFamily="34" charset="-120"/>
              </a:rPr>
              <a:t>python 00_ambil_subset_coco.py --kelas &lt;3 kelas pilihan&gt; --jumlah 200</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python 01_cek_anotasi.py dataset_yolo</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python 02_yolo_ke_coco.py dataset_yolo dataset_yolo/annotations_coco.json</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python 03_coco_ke_yolo.py dataset_yolo/annotations_coco.json hasil_balik</a:t>
            </a:r>
            <a:endParaRPr lang="en-US" sz="1100" dirty="0"/>
          </a:p>
          <a:p>
            <a:pPr marL="0" indent="0">
              <a:buNone/>
            </a:pPr>
            <a:r>
              <a:rPr lang="en-US" sz="1100" dirty="0">
                <a:solidFill>
                  <a:srgbClr val="E6F1FB"/>
                </a:solidFill>
                <a:latin typeface="Courier New" pitchFamily="34" charset="0"/>
                <a:ea typeface="Courier New" pitchFamily="34" charset="-122"/>
                <a:cs typeface="Courier New" pitchFamily="34" charset="-120"/>
              </a:rPr>
              <a:t>python 05_split_dataset_yolo.py dataset_yolo dataset_v1</a:t>
            </a:r>
            <a:endParaRPr lang="en-US" sz="1100" dirty="0"/>
          </a:p>
        </p:txBody>
      </p:sp>
      <p:sp>
        <p:nvSpPr>
          <p:cNvPr id="8" name="Text 5"/>
          <p:cNvSpPr txBox="1"/>
          <p:nvPr/>
        </p:nvSpPr>
        <p:spPr>
          <a:xfrm>
            <a:off x="457200" y="2651760"/>
            <a:ext cx="8229600" cy="91440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Tahap 1 menghasilkan dataset_yolo berisi gambar dan label YOLO untuk tiga kelas pilihan kelompok, lalu memeriksa format dan menguji konversi dua arah. Tahap 2 membaginya menjadi dataset_v1 dengan train, val, dan test, lengkap dengan data.yaml.</a:t>
            </a:r>
            <a:endParaRPr lang="en-US" sz="1350" dirty="0"/>
          </a:p>
        </p:txBody>
      </p:sp>
      <p:sp>
        <p:nvSpPr>
          <p:cNvPr id="9" name="Text 6"/>
          <p:cNvSpPr txBox="1"/>
          <p:nvPr/>
        </p:nvSpPr>
        <p:spPr>
          <a:xfrm>
            <a:off x="457200" y="3611880"/>
            <a:ext cx="8229600" cy="914400"/>
          </a:xfrm>
          <a:prstGeom prst="rect">
            <a:avLst/>
          </a:prstGeom>
          <a:noFill/>
          <a:ln/>
        </p:spPr>
        <p:txBody>
          <a:bodyPr wrap="square" lIns="0" tIns="0" rIns="0" bIns="0" rtlCol="0" anchor="t"/>
          <a:lstStyle/>
          <a:p>
            <a:pPr marL="0" indent="0">
              <a:spcAft>
                <a:spcPts val="600"/>
              </a:spcAft>
              <a:buNone/>
            </a:pPr>
            <a:r>
              <a:rPr lang="en-US" sz="1350" dirty="0">
                <a:solidFill>
                  <a:srgbClr val="1D5C94"/>
                </a:solidFill>
                <a:latin typeface="Calibri" pitchFamily="34" charset="0"/>
                <a:ea typeface="Calibri" pitchFamily="34" charset="-122"/>
                <a:cs typeface="Calibri" pitchFamily="34" charset="-120"/>
              </a:rPr>
              <a:t>Setiap kelompok wajib memilih kombinasi kelas yang berbeda. Pilih minimal satu kelas yang jumlahnya sedikit di COCO, agar pengaruh ketidakseimbangan kelas terlihat di hasil per kelas.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Tahap 3–5: program 06_latih_bandingkan.py</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36</a:t>
            </a:r>
            <a:endParaRPr lang="en-US" sz="900" dirty="0"/>
          </a:p>
        </p:txBody>
      </p:sp>
      <p:sp>
        <p:nvSpPr>
          <p:cNvPr id="6" name="Shape 3"/>
          <p:cNvSpPr/>
          <p:nvPr/>
        </p:nvSpPr>
        <p:spPr>
          <a:xfrm>
            <a:off x="457200" y="1051560"/>
            <a:ext cx="8229600" cy="548640"/>
          </a:xfrm>
          <a:prstGeom prst="roundRect">
            <a:avLst>
              <a:gd name="adj" fmla="val 10000"/>
            </a:avLst>
          </a:prstGeom>
          <a:solidFill>
            <a:srgbClr val="18324D"/>
          </a:solidFill>
          <a:ln w="12700">
            <a:solidFill>
              <a:srgbClr val="18324D"/>
            </a:solidFill>
            <a:prstDash val="solid"/>
          </a:ln>
        </p:spPr>
      </p:sp>
      <p:sp>
        <p:nvSpPr>
          <p:cNvPr id="7" name="Text 4"/>
          <p:cNvSpPr txBox="1"/>
          <p:nvPr/>
        </p:nvSpPr>
        <p:spPr>
          <a:xfrm>
            <a:off x="594360" y="1143000"/>
            <a:ext cx="7955280" cy="365760"/>
          </a:xfrm>
          <a:prstGeom prst="rect">
            <a:avLst/>
          </a:prstGeom>
          <a:noFill/>
          <a:ln/>
        </p:spPr>
        <p:txBody>
          <a:bodyPr wrap="square" lIns="0" tIns="0" rIns="0" bIns="0" rtlCol="0" anchor="t"/>
          <a:lstStyle/>
          <a:p>
            <a:pPr marL="0" indent="0">
              <a:buNone/>
            </a:pPr>
            <a:r>
              <a:rPr lang="en-US" sz="1150" dirty="0">
                <a:solidFill>
                  <a:srgbClr val="E6F1FB"/>
                </a:solidFill>
                <a:latin typeface="Courier New" pitchFamily="34" charset="0"/>
                <a:ea typeface="Courier New" pitchFamily="34" charset="-122"/>
                <a:cs typeface="Courier New" pitchFamily="34" charset="-120"/>
              </a:rPr>
              <a:t>python 06_latih_bandingkan.py --nim 4222101001 --nama "Budi Santoso"</a:t>
            </a:r>
            <a:endParaRPr lang="en-US" sz="1150" dirty="0"/>
          </a:p>
        </p:txBody>
      </p:sp>
      <p:sp>
        <p:nvSpPr>
          <p:cNvPr id="8" name="Shape 5"/>
          <p:cNvSpPr/>
          <p:nvPr/>
        </p:nvSpPr>
        <p:spPr>
          <a:xfrm>
            <a:off x="457200" y="1783080"/>
            <a:ext cx="2606040" cy="1325880"/>
          </a:xfrm>
          <a:prstGeom prst="roundRect">
            <a:avLst>
              <a:gd name="adj" fmla="val 5517"/>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9" name="Text 6"/>
          <p:cNvSpPr txBox="1"/>
          <p:nvPr/>
        </p:nvSpPr>
        <p:spPr>
          <a:xfrm>
            <a:off x="594360" y="1828800"/>
            <a:ext cx="2331720" cy="123444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E1 pretrained</a:t>
            </a:r>
            <a:endParaRPr lang="en-US" sz="1300" dirty="0"/>
          </a:p>
          <a:p>
            <a:pPr marL="0" indent="0">
              <a:buNone/>
            </a:pPr>
            <a:r>
              <a:rPr lang="en-US" sz="1050" dirty="0">
                <a:solidFill>
                  <a:srgbClr val="2B7BC0"/>
                </a:solidFill>
                <a:latin typeface="Courier New" pitchFamily="34" charset="0"/>
                <a:ea typeface="Courier New" pitchFamily="34" charset="-122"/>
                <a:cs typeface="Courier New" pitchFamily="34" charset="-120"/>
              </a:rPr>
              <a:t>yolo26n.pt</a:t>
            </a:r>
            <a:endParaRPr lang="en-US" sz="1300" dirty="0"/>
          </a:p>
          <a:p>
            <a:pPr marL="0" indent="0">
              <a:buNone/>
            </a:pPr>
            <a:r>
              <a:rPr lang="en-US" sz="1100" dirty="0">
                <a:solidFill>
                  <a:srgbClr val="1F2D3A"/>
                </a:solidFill>
                <a:latin typeface="Calibri" pitchFamily="34" charset="0"/>
                <a:ea typeface="Calibri" pitchFamily="34" charset="-122"/>
                <a:cs typeface="Calibri" pitchFamily="34" charset="-120"/>
              </a:rPr>
              <a:t>baseline, dengan transfer learning dari COCO</a:t>
            </a:r>
            <a:endParaRPr lang="en-US" sz="1300" dirty="0"/>
          </a:p>
        </p:txBody>
      </p:sp>
      <p:sp>
        <p:nvSpPr>
          <p:cNvPr id="10" name="Shape 7"/>
          <p:cNvSpPr/>
          <p:nvPr/>
        </p:nvSpPr>
        <p:spPr>
          <a:xfrm>
            <a:off x="3246120" y="1783080"/>
            <a:ext cx="2606040" cy="1325880"/>
          </a:xfrm>
          <a:prstGeom prst="roundRect">
            <a:avLst>
              <a:gd name="adj" fmla="val 5517"/>
            </a:avLst>
          </a:prstGeom>
          <a:solidFill>
            <a:srgbClr val="FBE7E5"/>
          </a:solidFill>
          <a:ln w="9525">
            <a:solidFill>
              <a:srgbClr val="C7E0F4"/>
            </a:solidFill>
            <a:prstDash val="solid"/>
          </a:ln>
          <a:effectLst>
            <a:outerShdw blurRad="76200" dist="25400" dir="5400000" algn="bl" rotWithShape="0">
              <a:srgbClr val="1D5C94">
                <a:alpha val="10000"/>
              </a:srgbClr>
            </a:outerShdw>
          </a:effectLst>
        </p:spPr>
      </p:sp>
      <p:sp>
        <p:nvSpPr>
          <p:cNvPr id="11" name="Text 8"/>
          <p:cNvSpPr txBox="1"/>
          <p:nvPr/>
        </p:nvSpPr>
        <p:spPr>
          <a:xfrm>
            <a:off x="3383280" y="1828800"/>
            <a:ext cx="2331720" cy="123444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E2 scratch</a:t>
            </a:r>
            <a:endParaRPr lang="en-US" sz="1300" dirty="0"/>
          </a:p>
          <a:p>
            <a:pPr marL="0" indent="0">
              <a:buNone/>
            </a:pPr>
            <a:r>
              <a:rPr lang="en-US" sz="1050" dirty="0">
                <a:solidFill>
                  <a:srgbClr val="2B7BC0"/>
                </a:solidFill>
                <a:latin typeface="Courier New" pitchFamily="34" charset="0"/>
                <a:ea typeface="Courier New" pitchFamily="34" charset="-122"/>
                <a:cs typeface="Courier New" pitchFamily="34" charset="-120"/>
              </a:rPr>
              <a:t>yolo26n.yaml</a:t>
            </a:r>
            <a:endParaRPr lang="en-US" sz="1300" dirty="0"/>
          </a:p>
          <a:p>
            <a:pPr marL="0" indent="0">
              <a:buNone/>
            </a:pPr>
            <a:r>
              <a:rPr lang="en-US" sz="1100" dirty="0">
                <a:solidFill>
                  <a:srgbClr val="1F2D3A"/>
                </a:solidFill>
                <a:latin typeface="Calibri" pitchFamily="34" charset="0"/>
                <a:ea typeface="Calibri" pitchFamily="34" charset="-122"/>
                <a:cs typeface="Calibri" pitchFamily="34" charset="-120"/>
              </a:rPr>
              <a:t>arsitektur sama, bobot acak, tanpa transfer learning</a:t>
            </a:r>
            <a:endParaRPr lang="en-US" sz="1300" dirty="0"/>
          </a:p>
        </p:txBody>
      </p:sp>
      <p:sp>
        <p:nvSpPr>
          <p:cNvPr id="12" name="Shape 9"/>
          <p:cNvSpPr/>
          <p:nvPr/>
        </p:nvSpPr>
        <p:spPr>
          <a:xfrm>
            <a:off x="6035040" y="1783080"/>
            <a:ext cx="2606040" cy="1325880"/>
          </a:xfrm>
          <a:prstGeom prst="roundRect">
            <a:avLst>
              <a:gd name="adj" fmla="val 5517"/>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13" name="Text 10"/>
          <p:cNvSpPr txBox="1"/>
          <p:nvPr/>
        </p:nvSpPr>
        <p:spPr>
          <a:xfrm>
            <a:off x="6172200" y="1828800"/>
            <a:ext cx="2331720" cy="123444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E3 tuning</a:t>
            </a:r>
            <a:endParaRPr lang="en-US" sz="1300" dirty="0"/>
          </a:p>
          <a:p>
            <a:pPr marL="0" indent="0">
              <a:buNone/>
            </a:pPr>
            <a:r>
              <a:rPr lang="en-US" sz="1050" dirty="0">
                <a:solidFill>
                  <a:srgbClr val="2B7BC0"/>
                </a:solidFill>
                <a:latin typeface="Courier New" pitchFamily="34" charset="0"/>
                <a:ea typeface="Courier New" pitchFamily="34" charset="-122"/>
                <a:cs typeface="Courier New" pitchFamily="34" charset="-120"/>
              </a:rPr>
              <a:t>yolo26n.pt + satu perubahan</a:t>
            </a:r>
            <a:endParaRPr lang="en-US" sz="1300" dirty="0"/>
          </a:p>
          <a:p>
            <a:pPr marL="0" indent="0">
              <a:buNone/>
            </a:pPr>
            <a:r>
              <a:rPr lang="en-US" sz="1100" dirty="0">
                <a:solidFill>
                  <a:srgbClr val="1F2D3A"/>
                </a:solidFill>
                <a:latin typeface="Calibri" pitchFamily="34" charset="0"/>
                <a:ea typeface="Calibri" pitchFamily="34" charset="-122"/>
                <a:cs typeface="Calibri" pitchFamily="34" charset="-120"/>
              </a:rPr>
              <a:t>default imgsz=640; ubah dengan --ubah kunci=nilai</a:t>
            </a:r>
            <a:endParaRPr lang="en-US" sz="1300" dirty="0"/>
          </a:p>
        </p:txBody>
      </p:sp>
      <p:sp>
        <p:nvSpPr>
          <p:cNvPr id="14" name="Text 11"/>
          <p:cNvSpPr txBox="1"/>
          <p:nvPr/>
        </p:nvSpPr>
        <p:spPr>
          <a:xfrm>
            <a:off x="457200" y="3246120"/>
            <a:ext cx="8229600" cy="1371600"/>
          </a:xfrm>
          <a:prstGeom prst="rect">
            <a:avLst/>
          </a:prstGeom>
          <a:noFill/>
          <a:ln/>
        </p:spPr>
        <p:txBody>
          <a:bodyPr wrap="square" lIns="0" tIns="0" rIns="0" bIns="0" rtlCol="0" anchor="t"/>
          <a:lstStyle/>
          <a:p>
            <a:pPr marL="0" indent="0">
              <a:spcAft>
                <a:spcPts val="600"/>
              </a:spcAft>
              <a:buNone/>
            </a:pPr>
            <a:r>
              <a:rPr lang="en-US" sz="1300" dirty="0">
                <a:solidFill>
                  <a:srgbClr val="1F2D3A"/>
                </a:solidFill>
                <a:latin typeface="Calibri" pitchFamily="34" charset="0"/>
                <a:ea typeface="Calibri" pitchFamily="34" charset="-122"/>
                <a:cs typeface="Calibri" pitchFamily="34" charset="-120"/>
              </a:rPr>
              <a:t>Ketiga eksperimen memakai data, epoch, ukuran input, dan seed yang sama, sehingga perbedaan hasil hanya disebabkan oleh satu faktor. Perbandingan E1 dengan E2 menunjukkan manfaat transfer learning. Perbandingan E1 dengan E3 menunjukkan hasil satu langkah tuning. Program lalu memilih model dengan mAP50-95 val tertinggi dan mengujinya sekali di data test.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Keluaran program 06 dan cara membacanya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37</a:t>
            </a:r>
            <a:endParaRPr lang="en-US" sz="900" dirty="0"/>
          </a:p>
        </p:txBody>
      </p:sp>
      <p:sp>
        <p:nvSpPr>
          <p:cNvPr id="6" name="Shape 3"/>
          <p:cNvSpPr/>
          <p:nvPr/>
        </p:nvSpPr>
        <p:spPr>
          <a:xfrm>
            <a:off x="457200" y="1051560"/>
            <a:ext cx="5120640" cy="2103120"/>
          </a:xfrm>
          <a:prstGeom prst="roundRect">
            <a:avLst>
              <a:gd name="adj" fmla="val 2609"/>
            </a:avLst>
          </a:prstGeom>
          <a:solidFill>
            <a:srgbClr val="18324D"/>
          </a:solidFill>
          <a:ln w="12700">
            <a:solidFill>
              <a:srgbClr val="18324D"/>
            </a:solidFill>
            <a:prstDash val="solid"/>
          </a:ln>
        </p:spPr>
      </p:sp>
      <p:sp>
        <p:nvSpPr>
          <p:cNvPr id="7" name="Text 4"/>
          <p:cNvSpPr txBox="1"/>
          <p:nvPr/>
        </p:nvSpPr>
        <p:spPr>
          <a:xfrm>
            <a:off x="594360" y="1143000"/>
            <a:ext cx="4846320" cy="1920240"/>
          </a:xfrm>
          <a:prstGeom prst="rect">
            <a:avLst/>
          </a:prstGeom>
          <a:noFill/>
          <a:ln/>
        </p:spPr>
        <p:txBody>
          <a:bodyPr wrap="square" lIns="0" tIns="0" rIns="0" bIns="0" rtlCol="0" anchor="t"/>
          <a:lstStyle/>
          <a:p>
            <a:pPr marL="0" indent="0">
              <a:buNone/>
            </a:pPr>
            <a:r>
              <a:rPr lang="en-US" sz="1000" dirty="0">
                <a:solidFill>
                  <a:srgbClr val="E6F1FB"/>
                </a:solidFill>
                <a:latin typeface="Courier New" pitchFamily="34" charset="0"/>
                <a:ea typeface="Courier New" pitchFamily="34" charset="-122"/>
                <a:cs typeface="Courier New" pitchFamily="34" charset="-120"/>
              </a:rPr>
              <a:t>  NIM / Nama    : ... /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Dataset       : dataset_v1  (sidik jari label: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Eksperimen     Perubahan   mAP50 mAP50-95   P    R   ms menit</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E1_pretrained  -            ...    ...     ...  ... ...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E2_scratch     -            ...    ...     ...  ... ...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E3_tuning      imgsz=640    ...    ...     ...  ... ...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Model terpilih (mAP50-95 val tertinggi): ...</a:t>
            </a:r>
            <a:endParaRPr lang="en-US" sz="1000" dirty="0"/>
          </a:p>
          <a:p>
            <a:pPr marL="0" indent="0">
              <a:buNone/>
            </a:pPr>
            <a:r>
              <a:rPr lang="en-US" sz="1000" dirty="0">
                <a:solidFill>
                  <a:srgbClr val="E6F1FB"/>
                </a:solidFill>
                <a:latin typeface="Courier New" pitchFamily="34" charset="0"/>
                <a:ea typeface="Courier New" pitchFamily="34" charset="-122"/>
                <a:cs typeface="Courier New" pitchFamily="34" charset="-120"/>
              </a:rPr>
              <a:t>  Hasil di data TEST (sekali saja)       : ...</a:t>
            </a:r>
            <a:endParaRPr lang="en-US" sz="1000" dirty="0"/>
          </a:p>
        </p:txBody>
      </p:sp>
      <p:sp>
        <p:nvSpPr>
          <p:cNvPr id="8" name="Text 5"/>
          <p:cNvSpPr txBox="1"/>
          <p:nvPr/>
        </p:nvSpPr>
        <p:spPr>
          <a:xfrm>
            <a:off x="457200" y="3200400"/>
            <a:ext cx="5120640" cy="237744"/>
          </a:xfrm>
          <a:prstGeom prst="rect">
            <a:avLst/>
          </a:prstGeom>
          <a:noFill/>
          <a:ln/>
        </p:spPr>
        <p:txBody>
          <a:bodyPr wrap="square" lIns="0" tIns="0" rIns="0" bIns="0" rtlCol="0" anchor="ctr"/>
          <a:lstStyle/>
          <a:p>
            <a:pPr marL="0" indent="0">
              <a:buNone/>
            </a:pPr>
            <a:r>
              <a:rPr lang="en-US" sz="950" i="1" dirty="0">
                <a:solidFill>
                  <a:srgbClr val="5C7185"/>
                </a:solidFill>
                <a:latin typeface="Calibri" pitchFamily="34" charset="0"/>
                <a:ea typeface="Calibri" pitchFamily="34" charset="-122"/>
                <a:cs typeface="Calibri" pitchFamily="34" charset="-120"/>
              </a:rPr>
              <a:t>Format keluaran; disimpan juga ke hasil_praktik_&lt;NIM&gt;.txt dan .csv</a:t>
            </a:r>
            <a:endParaRPr lang="en-US" sz="950" dirty="0"/>
          </a:p>
        </p:txBody>
      </p:sp>
      <p:sp>
        <p:nvSpPr>
          <p:cNvPr id="9" name="Text 6"/>
          <p:cNvSpPr txBox="1"/>
          <p:nvPr/>
        </p:nvSpPr>
        <p:spPr>
          <a:xfrm>
            <a:off x="5852160" y="1051560"/>
            <a:ext cx="2834640" cy="2377440"/>
          </a:xfrm>
          <a:prstGeom prst="rect">
            <a:avLst/>
          </a:prstGeom>
          <a:noFill/>
          <a:ln/>
        </p:spPr>
        <p:txBody>
          <a:bodyPr wrap="square" lIns="0" tIns="0" rIns="0" bIns="0" rtlCol="0" anchor="t"/>
          <a:lstStyle/>
          <a:p>
            <a:pPr marL="0" indent="0">
              <a:spcAft>
                <a:spcPts val="600"/>
              </a:spcAft>
              <a:buNone/>
            </a:pPr>
            <a:r>
              <a:rPr lang="en-US" sz="1200" dirty="0">
                <a:solidFill>
                  <a:srgbClr val="1F2D3A"/>
                </a:solidFill>
                <a:latin typeface="Calibri" pitchFamily="34" charset="0"/>
                <a:ea typeface="Calibri" pitchFamily="34" charset="-122"/>
                <a:cs typeface="Calibri" pitchFamily="34" charset="-120"/>
              </a:rPr>
              <a:t>Pola yang diharapkan: E1 jauh lebih tinggi daripada E2 pada epoch yang sama, karena E1 membawa pengetahuan dari COCO. E3 bisa lebih baik atau lebih buruk dari E1; keduanya sama-sama hasil yang sah, asalkan dijelaskan.</a:t>
            </a:r>
            <a:endParaRPr lang="en-US" sz="1200" dirty="0"/>
          </a:p>
        </p:txBody>
      </p:sp>
      <p:sp>
        <p:nvSpPr>
          <p:cNvPr id="10" name="Shape 7"/>
          <p:cNvSpPr/>
          <p:nvPr/>
        </p:nvSpPr>
        <p:spPr>
          <a:xfrm>
            <a:off x="457200" y="3611880"/>
            <a:ext cx="8229600" cy="868680"/>
          </a:xfrm>
          <a:prstGeom prst="roundRect">
            <a:avLst>
              <a:gd name="adj" fmla="val 8421"/>
            </a:avLst>
          </a:prstGeom>
          <a:solidFill>
            <a:srgbClr val="E3F1FC"/>
          </a:solidFill>
          <a:ln w="9525">
            <a:solidFill>
              <a:srgbClr val="C7E0F4"/>
            </a:solidFill>
            <a:prstDash val="solid"/>
          </a:ln>
          <a:effectLst>
            <a:outerShdw blurRad="76200" dist="25400" dir="5400000" algn="bl" rotWithShape="0">
              <a:srgbClr val="1D5C94">
                <a:alpha val="10000"/>
              </a:srgbClr>
            </a:outerShdw>
          </a:effectLst>
        </p:spPr>
      </p:sp>
      <p:sp>
        <p:nvSpPr>
          <p:cNvPr id="11" name="Text 8"/>
          <p:cNvSpPr txBox="1"/>
          <p:nvPr/>
        </p:nvSpPr>
        <p:spPr>
          <a:xfrm>
            <a:off x="621792" y="3611880"/>
            <a:ext cx="7900416" cy="868680"/>
          </a:xfrm>
          <a:prstGeom prst="rect">
            <a:avLst/>
          </a:prstGeom>
          <a:noFill/>
          <a:ln/>
        </p:spPr>
        <p:txBody>
          <a:bodyPr wrap="square" lIns="0" tIns="0" rIns="0" bIns="0" rtlCol="0" anchor="ctr"/>
          <a:lstStyle/>
          <a:p>
            <a:pPr marL="0" indent="0">
              <a:buNone/>
            </a:pPr>
            <a:r>
              <a:rPr lang="en-US" sz="1250" dirty="0">
                <a:solidFill>
                  <a:srgbClr val="1F2D3A"/>
                </a:solidFill>
                <a:latin typeface="Calibri" pitchFamily="34" charset="0"/>
                <a:ea typeface="Calibri" pitchFamily="34" charset="-122"/>
                <a:cs typeface="Calibri" pitchFamily="34" charset="-120"/>
              </a:rPr>
              <a:t>Identitas, waktu, komputer, dan sidik jari dataset dicetak otomatis, sehingga hasil yang disalin dari kelompok lain mudah dikenali.</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2F8F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B7BC0"/>
          </a:solidFill>
          <a:ln w="12700">
            <a:solidFill>
              <a:srgbClr val="2B7BC0"/>
            </a:solidFill>
            <a:prstDash val="solid"/>
          </a:ln>
        </p:spPr>
      </p:sp>
      <p:sp>
        <p:nvSpPr>
          <p:cNvPr id="3" name="Text 1"/>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16324F"/>
                </a:solidFill>
                <a:latin typeface="Arial" pitchFamily="34" charset="0"/>
                <a:ea typeface="Arial" pitchFamily="34" charset="-122"/>
                <a:cs typeface="Arial" pitchFamily="34" charset="-120"/>
              </a:rPr>
              <a:t>Yang dikumpulkan dan penilaiannya</a:t>
            </a:r>
            <a:endParaRPr lang="en-US" sz="2600" dirty="0"/>
          </a:p>
        </p:txBody>
      </p:sp>
      <p:sp>
        <p:nvSpPr>
          <p:cNvPr id="4" name="Text 2"/>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7185"/>
                </a:solidFill>
                <a:latin typeface="Calibri" pitchFamily="34" charset="0"/>
                <a:ea typeface="Calibri" pitchFamily="34" charset="-122"/>
                <a:cs typeface="Calibri" pitchFamily="34" charset="-120"/>
              </a:rPr>
              <a:t>RET503 · Minggu 4–7 · 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7818470"/>
              </p:ext>
            </p:extLst>
          </p:nvPr>
        </p:nvGraphicFramePr>
        <p:xfrm>
          <a:off x="457200" y="1051560"/>
          <a:ext cx="8229600" cy="1645920"/>
        </p:xfrm>
        <a:graphic>
          <a:graphicData uri="http://schemas.openxmlformats.org/drawingml/2006/table">
            <a:tbl>
              <a:tblPr/>
              <a:tblGrid>
                <a:gridCol w="13716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Bagian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Yang dikumpulkan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Asesmen RPS</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1D5C94"/>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Tahap 1–2</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Data </a:t>
                      </a:r>
                      <a:r>
                        <a:rPr lang="en-US" sz="1200" dirty="0" err="1">
                          <a:solidFill>
                            <a:srgbClr val="1F2D3A"/>
                          </a:solidFill>
                          <a:latin typeface="Calibri" pitchFamily="34" charset="0"/>
                          <a:ea typeface="Calibri" pitchFamily="34" charset="-122"/>
                          <a:cs typeface="Calibri" pitchFamily="34" charset="-120"/>
                        </a:rPr>
                        <a:t>projek</a:t>
                      </a:r>
                      <a:r>
                        <a:rPr lang="en-US" sz="1200" dirty="0">
                          <a:solidFill>
                            <a:srgbClr val="1F2D3A"/>
                          </a:solidFill>
                          <a:latin typeface="Calibri" pitchFamily="34" charset="0"/>
                          <a:ea typeface="Calibri" pitchFamily="34" charset="-122"/>
                          <a:cs typeface="Calibri" pitchFamily="34" charset="-120"/>
                        </a:rPr>
                        <a:t> </a:t>
                      </a:r>
                      <a:r>
                        <a:rPr lang="en-US" sz="1200" dirty="0" err="1">
                          <a:solidFill>
                            <a:srgbClr val="1F2D3A"/>
                          </a:solidFill>
                          <a:latin typeface="Calibri" pitchFamily="34" charset="0"/>
                          <a:ea typeface="Calibri" pitchFamily="34" charset="-122"/>
                          <a:cs typeface="Calibri" pitchFamily="34" charset="-120"/>
                        </a:rPr>
                        <a:t>mahasiswa</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P3 (CLO-3)</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Tahap 3</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hasil E1 dan E3, results.png kedua eksperimen</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P4 (CLO-4)</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Tahap 4–6</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hasil_praktik_&lt;NIM&gt;.txt/.csv, </a:t>
                      </a:r>
                      <a:r>
                        <a:rPr lang="en-US" sz="1200" dirty="0" err="1">
                          <a:solidFill>
                            <a:srgbClr val="1F2D3A"/>
                          </a:solidFill>
                          <a:latin typeface="Calibri" pitchFamily="34" charset="0"/>
                          <a:ea typeface="Calibri" pitchFamily="34" charset="-122"/>
                          <a:cs typeface="Calibri" pitchFamily="34" charset="-120"/>
                        </a:rPr>
                        <a:t>analisis</a:t>
                      </a:r>
                      <a:r>
                        <a:rPr lang="en-US" sz="1200" dirty="0">
                          <a:solidFill>
                            <a:srgbClr val="1F2D3A"/>
                          </a:solidFill>
                          <a:latin typeface="Calibri" pitchFamily="34" charset="0"/>
                          <a:ea typeface="Calibri" pitchFamily="34" charset="-122"/>
                          <a:cs typeface="Calibri" pitchFamily="34" charset="-120"/>
                        </a:rPr>
                        <a:t> dan </a:t>
                      </a:r>
                      <a:r>
                        <a:rPr lang="en-US" sz="1200" dirty="0" err="1">
                          <a:solidFill>
                            <a:srgbClr val="1F2D3A"/>
                          </a:solidFill>
                          <a:latin typeface="Calibri" pitchFamily="34" charset="0"/>
                          <a:ea typeface="Calibri" pitchFamily="34" charset="-122"/>
                          <a:cs typeface="Calibri" pitchFamily="34" charset="-120"/>
                        </a:rPr>
                        <a:t>hasil</a:t>
                      </a:r>
                      <a:r>
                        <a:rPr lang="en-US" sz="1200" dirty="0">
                          <a:solidFill>
                            <a:srgbClr val="1F2D3A"/>
                          </a:solidFill>
                          <a:latin typeface="Calibri" pitchFamily="34" charset="0"/>
                          <a:ea typeface="Calibri" pitchFamily="34" charset="-122"/>
                          <a:cs typeface="Calibri" pitchFamily="34" charset="-120"/>
                        </a:rPr>
                        <a:t> test (</a:t>
                      </a:r>
                      <a:r>
                        <a:rPr lang="en-US" sz="1200" dirty="0" err="1">
                          <a:solidFill>
                            <a:srgbClr val="1F2D3A"/>
                          </a:solidFill>
                          <a:latin typeface="Calibri" pitchFamily="34" charset="0"/>
                          <a:ea typeface="Calibri" pitchFamily="34" charset="-122"/>
                          <a:cs typeface="Calibri" pitchFamily="34" charset="-120"/>
                        </a:rPr>
                        <a:t>Read.Me</a:t>
                      </a:r>
                      <a:r>
                        <a:rPr lang="en-US" sz="1200" dirty="0">
                          <a:solidFill>
                            <a:srgbClr val="1F2D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Pj1 (CLO-4)</a:t>
                      </a:r>
                      <a:endParaRPr lang="en-US" sz="1200" dirty="0">
                        <a:latin typeface="Calibri" charset="0"/>
                        <a:ea typeface="Calibri" charset="0"/>
                        <a:cs typeface="Calibri" charset="0"/>
                      </a:endParaRPr>
                    </a:p>
                  </a:txBody>
                  <a:tcPr>
                    <a:lnL w="6350" cap="flat" cmpd="sng" algn="ctr">
                      <a:solidFill>
                        <a:srgbClr val="C7E0F4"/>
                      </a:solidFill>
                      <a:prstDash val="solid"/>
                      <a:round/>
                      <a:headEnd type="none" w="med" len="med"/>
                      <a:tailEnd type="none" w="med" len="med"/>
                    </a:lnL>
                    <a:lnR w="6350" cap="flat" cmpd="sng" algn="ctr">
                      <a:solidFill>
                        <a:srgbClr val="C7E0F4"/>
                      </a:solidFill>
                      <a:prstDash val="solid"/>
                      <a:round/>
                      <a:headEnd type="none" w="med" len="med"/>
                      <a:tailEnd type="none" w="med" len="med"/>
                    </a:lnR>
                    <a:lnT w="6350" cap="flat" cmpd="sng" algn="ctr">
                      <a:solidFill>
                        <a:srgbClr val="C7E0F4"/>
                      </a:solidFill>
                      <a:prstDash val="solid"/>
                      <a:round/>
                      <a:headEnd type="none" w="med" len="med"/>
                      <a:tailEnd type="none" w="med" len="med"/>
                    </a:lnT>
                    <a:lnB w="6350" cap="flat" cmpd="sng" algn="ctr">
                      <a:solidFill>
                        <a:srgbClr val="C7E0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457200" y="2880360"/>
            <a:ext cx="8229600" cy="1097280"/>
          </a:xfrm>
          <a:prstGeom prst="rect">
            <a:avLst/>
          </a:prstGeom>
          <a:noFill/>
          <a:ln/>
        </p:spPr>
        <p:txBody>
          <a:bodyPr wrap="square" lIns="0" tIns="0" rIns="0" bIns="0" rtlCol="0" anchor="t"/>
          <a:lstStyle/>
          <a:p>
            <a:pPr marL="0" indent="0">
              <a:spcAft>
                <a:spcPts val="600"/>
              </a:spcAft>
              <a:buNone/>
            </a:pPr>
            <a:r>
              <a:rPr lang="en-US" sz="1350" dirty="0">
                <a:solidFill>
                  <a:srgbClr val="1F2D3A"/>
                </a:solidFill>
                <a:latin typeface="Calibri" pitchFamily="34" charset="0"/>
                <a:ea typeface="Calibri" pitchFamily="34" charset="-122"/>
                <a:cs typeface="Calibri" pitchFamily="34" charset="-120"/>
              </a:rPr>
              <a:t>Walaupun praktiknya hanya satu, setiap tahapnya menghasilkan bukti untuk asesmen yang berbeda di RPS. Untuk Pj1, alur yang sama sebaiknya diulang dengan data projek kelompok, karena Pj1 meminta dataset dan target kinerja dari misi projek sendiri.</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D6ECF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8FCBF0"/>
          </a:solidFill>
          <a:ln w="12700">
            <a:solidFill>
              <a:srgbClr val="8FCBF0"/>
            </a:solidFill>
            <a:prstDash val="solid"/>
          </a:ln>
        </p:spPr>
      </p:sp>
      <p:sp>
        <p:nvSpPr>
          <p:cNvPr id="3" name="Text 1"/>
          <p:cNvSpPr txBox="1"/>
          <p:nvPr/>
        </p:nvSpPr>
        <p:spPr>
          <a:xfrm>
            <a:off x="548640" y="640080"/>
            <a:ext cx="8046720" cy="365760"/>
          </a:xfrm>
          <a:prstGeom prst="rect">
            <a:avLst/>
          </a:prstGeom>
          <a:noFill/>
          <a:ln/>
        </p:spPr>
        <p:txBody>
          <a:bodyPr wrap="square" lIns="0" tIns="0" rIns="0" bIns="0" rtlCol="0" anchor="ctr"/>
          <a:lstStyle/>
          <a:p>
            <a:pPr marL="0" indent="0">
              <a:buNone/>
            </a:pPr>
            <a:r>
              <a:rPr lang="en-US" sz="1400" b="1" kern="0" spc="200" dirty="0">
                <a:solidFill>
                  <a:srgbClr val="2B7BC0"/>
                </a:solidFill>
                <a:latin typeface="Calibri" pitchFamily="34" charset="0"/>
                <a:ea typeface="Calibri" pitchFamily="34" charset="-122"/>
                <a:cs typeface="Calibri" pitchFamily="34" charset="-120"/>
              </a:rPr>
              <a:t>SETELAH INI · UTS, LALU MINGGU 8</a:t>
            </a:r>
            <a:endParaRPr lang="en-US" sz="1400" dirty="0"/>
          </a:p>
        </p:txBody>
      </p:sp>
      <p:sp>
        <p:nvSpPr>
          <p:cNvPr id="4" name="Text 2"/>
          <p:cNvSpPr txBox="1"/>
          <p:nvPr/>
        </p:nvSpPr>
        <p:spPr>
          <a:xfrm>
            <a:off x="548640" y="1005840"/>
            <a:ext cx="8046720" cy="640080"/>
          </a:xfrm>
          <a:prstGeom prst="rect">
            <a:avLst/>
          </a:prstGeom>
          <a:noFill/>
          <a:ln/>
        </p:spPr>
        <p:txBody>
          <a:bodyPr wrap="square" lIns="0" tIns="0" rIns="0" bIns="0" rtlCol="0" anchor="ctr"/>
          <a:lstStyle/>
          <a:p>
            <a:pPr marL="0" indent="0">
              <a:buNone/>
            </a:pPr>
            <a:r>
              <a:rPr lang="en-US" sz="2800" b="1" dirty="0">
                <a:solidFill>
                  <a:srgbClr val="16324F"/>
                </a:solidFill>
                <a:latin typeface="Arial" pitchFamily="34" charset="0"/>
                <a:ea typeface="Arial" pitchFamily="34" charset="-122"/>
                <a:cs typeface="Arial" pitchFamily="34" charset="-120"/>
              </a:rPr>
              <a:t>Evaluasi kinerja deteksi secara mendalam</a:t>
            </a:r>
            <a:endParaRPr lang="en-US" sz="2800" dirty="0"/>
          </a:p>
        </p:txBody>
      </p:sp>
      <p:sp>
        <p:nvSpPr>
          <p:cNvPr id="5" name="Text 3"/>
          <p:cNvSpPr txBox="1"/>
          <p:nvPr/>
        </p:nvSpPr>
        <p:spPr>
          <a:xfrm>
            <a:off x="548640" y="2011680"/>
            <a:ext cx="8046720" cy="2286000"/>
          </a:xfrm>
          <a:prstGeom prst="rect">
            <a:avLst/>
          </a:prstGeom>
          <a:noFill/>
          <a:ln/>
        </p:spPr>
        <p:txBody>
          <a:bodyPr wrap="square" lIns="0" tIns="0" rIns="0" bIns="0" rtlCol="0" anchor="t"/>
          <a:lstStyle/>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Ultralytics Academy, "Prepare a Custom Dataset", kursus Train your first YOLO model.</a:t>
            </a:r>
            <a:endParaRPr lang="en-US" sz="1200" dirty="0"/>
          </a:p>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Ultralytics Docs, "COCO Dataset".</a:t>
            </a:r>
            <a:endParaRPr lang="en-US" sz="1200" dirty="0"/>
          </a:p>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Holzer, R., "YOLO – object detection", OpenCV tutorial, 2019.</a:t>
            </a:r>
            <a:endParaRPr lang="en-US" sz="1200" dirty="0"/>
          </a:p>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Redmon, J. dkk., "You Only Look Once", CVPR 2016.</a:t>
            </a:r>
            <a:endParaRPr lang="en-US" sz="1200" dirty="0"/>
          </a:p>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Lin, T.-Y. dkk., "Microsoft COCO: Common Objects in Context", ECCV 2014.</a:t>
            </a:r>
            <a:endParaRPr lang="en-US" sz="1200" dirty="0"/>
          </a:p>
          <a:p>
            <a:pPr marL="0" indent="0">
              <a:spcAft>
                <a:spcPts val="400"/>
              </a:spcAft>
              <a:buNone/>
            </a:pPr>
            <a:r>
              <a:rPr lang="en-US" sz="1200" dirty="0">
                <a:solidFill>
                  <a:srgbClr val="16324F"/>
                </a:solidFill>
                <a:latin typeface="Calibri" pitchFamily="34" charset="0"/>
                <a:ea typeface="Calibri" pitchFamily="34" charset="-122"/>
                <a:cs typeface="Calibri" pitchFamily="34" charset="-120"/>
              </a:rPr>
              <a:t>Data contoh: Ultralytics coco128 (gambar dan anotasi COCO).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4453</Words>
  <Application>Microsoft Office PowerPoint</Application>
  <PresentationFormat>On-screen Show (16:9)</PresentationFormat>
  <Paragraphs>545</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RET503 Minggu 4-7 - Dari Data ke Detektor YOLO</dc:title>
  <dc:subject>PptxGenJS Presentation</dc:subject>
  <dc:creator>PptxGenJS</dc:creator>
  <cp:lastModifiedBy>Fahrizal D. Devgan</cp:lastModifiedBy>
  <cp:revision>3</cp:revision>
  <dcterms:created xsi:type="dcterms:W3CDTF">2026-10-04T12:38:14Z</dcterms:created>
  <dcterms:modified xsi:type="dcterms:W3CDTF">2026-10-05T12:37:53Z</dcterms:modified>
</cp:coreProperties>
</file>