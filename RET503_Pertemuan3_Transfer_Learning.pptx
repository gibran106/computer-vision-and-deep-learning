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3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pertemuan dengan mengingatkan bahwa minggu lalu kita mengkalibrasi kamera. Minggu ini kita mulai memakai model deep learning, dan sekaligus masuk ke tahap CDIO Design untuk proyek RET501.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capaian secara singkat. Tekankan bahwa poin 5 dan 6 dikerjakan di lab dan menjadi bagian penilaian P2 serta draf Pj1.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2-3 mahasiswa menjawab. Arahkan ke ide: keterampilan umum (membaca jalan, mengatur kecepatan) terbawa, sedangkan hal spesifik (dimensi truk, rem angin) harus dipelajari ulang. Pada CNN, fitur umum di lapisan awal terbawa, head harus dilatih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domain sumber dan target. Contoh konkret: ImageNet 1,2 juta foto, sedangkan dataset proyek hanya ratusan citra. Transfer learning membuat hal itu cukup.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dua panel. Kiri: setiap tugas dipelajari dari nol, pengetahuan tidak dibawa. Kanan: pengetahuan dari tugas 1 dipakai untuk tugas 2, sehingga dataset 2 bisa lebih kecil (perhatikan ukuran lingkarannya).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Rujuk Zeiler &amp; Fergus 2014 dan Yosinski dkk. 2014. Hubungkan lapisan awal dengan filter Sobel di pertemuan 2: CNN mempelajari kernel yang mirip secara otomatis.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keuntungan utama. Risiko negative transfer muncul saat domain target sangat berbeda, misalnya citra termal atau X-ray.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 diagram dari kanan ke kiri: Strategy 3 paling sedikit dilatih (feature extraction), Strategy 1 melatih seluruh model. Aturan praktis: makin sedikit dan makin mirip datanya, makin banyak lapisan yang dibekukan.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gunting pada diagram: classifier lama (Dog, Cat, Plane, Car) dipotong, convolutional layers dibawa dalam keadaan frozen, lalu classifier baru dilatih untuk label target. Di praktikum hari ini, classifier baru = m.fc.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Kebanyakan proyek di lab kita berada di kuadran kiri atas: data sedikit, foto RGB biasa. Mulai dari feature extraction, lanjutkan ke fine-tuning parsial.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 jebakan yang sering terlewat: BatchNorm dan optimizer. Minta mahasiswa menemukan baris-baris ini di skrip praktikum.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Bobot pretrained sudah dekat solusi yang baik. Learning rate besar bisa merusak fitur (catastrophic forgetting). Tunjukkan contoh discriminative LR di kanan.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Kaitkan dengan pertemuan 2: konsistensi preprocessing antara pelatihan dan deployment. Jika normalisasi berbeda, fitur yang keluar tidak lagi bermakna.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perkiraan dari dokumentasi torchvision (bobot ImageNet). Pesan utamanya: model terbaik untuk robot adalah yang cukup akurat dan tetap memenuhi target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dari UGM ini menunjukkan transfer learning dengan dataset berukuran belasan ribu citra. ResNet18 unggul atas VGG16. Menariknya, augmentasi tidak berpengaruh signifikan karena performa sudah tinggi. Tanyakan: apakah hal yang sama berlaku untuk dataset robot kita yang jauh lebih kecil?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67 ms untuk seluruh pipeline, bukan hanya inferensi. Setiap kelompok menyusun anggaran sendiri di dokumen desain dan mengukurnya di langkah 4 praktikum.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Transisi ke sesi lab. Mulai dari sini mahasiswa bekerja per kelompok proyek RET501.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Dokumen ini ringkas dan akan terus diperbarui. Kandidat model minimal dua, lengkap dengan alasan dari tabel slide sebelumnya.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dari kamera robot sendiri jauh lebih berharga dari foto internet karena sudut pandang, cahaya, dan distorsinya sama. Provenance wajib dicatat sesuai kebijakan 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1 memakai calib.npz dari pertemuan 2. Pastikan resolusi kamera sama dengan resolusi saat kalibrasi.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Hipotesis yang diharapkan: feature extraction dan partial jauh lebih baik dari scratch pada data kecil. Minta mahasiswa menuliskan hipotesis sebelum menjalankan skrip.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akurasi val 100% dalam 2 epoch, curigai leakage. Solusi lebih jujur: pisahkan berdasarkan sesi atau kondisi pengambilan. Dibahas lebih dalam di minggu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dikumpulkan melalui LMS learning.polibatam.ac.id sesuai tenggat. Refleksi individu maksimal satu halaman.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mengingatkan bahwa citra yang dikumpulkan hari ini akan dianotasi di minggu 4. Buka sesi tanya jawab singkat.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COMPUTER VISION AND DEEP LEARNING · PERTEMUAN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dan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Model Visi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 · SO2-B5 · CDIO Stage #2 Design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Rekayasa Robotika · Politeknik Negeri Batam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4224528"/>
            <a:ext cx="182880" cy="18288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4224528"/>
            <a:ext cx="182880" cy="18288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4224528"/>
            <a:ext cx="182880" cy="18288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4224528"/>
            <a:ext cx="182880" cy="1828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hari ini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40817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234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konsep transfer learning dan alasan fitur CNN dapat dipakai ulang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40817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1234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feature extraction, fine-tuning parsial, dan fine-tuning penuh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layer freezing dan learning rate saat fine-tuning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6344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250545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model pretrained sesuai batas komputasi robot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360273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desain awal pipeline persepsi dan mengambil data dari robot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663440" y="3337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360273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394960" y="3429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fine-tuning dengan PyTorch dan membandingkannya dengan pelatihan dari nol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Pre-class 60′  ·  In-class 120′  ·  After-class 60′  ·  Lab 120′ + coaching 50′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PEMBUKA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 yang sudah mahir menyetir mobil biasanya lebih cepat belajar menyetir truk.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“dibawa” dari pengalaman lama, dan apa yang harus dipelajari ulang?</a:t>
            </a:r>
            <a:endParaRPr lang="en-US" sz="1800" dirty="0"/>
          </a:p>
          <a:p>
            <a:pPr marL="0" indent="0">
              <a:buNone/>
            </a:pPr>
            <a:r>
              <a:rPr lang="en-US" sz="320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</a:t>
            </a:r>
            <a:r>
              <a:rPr lang="en-US" sz="3200" b="1" dirty="0" err="1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hubungannya</a:t>
            </a:r>
            <a:r>
              <a:rPr lang="en-US" sz="320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3200" b="1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CNN?</a:t>
            </a:r>
            <a:endParaRPr lang="en-US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learning: memakai ulang pengetahuan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SUMBER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/ COCO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Jutaan foto, ratusan kelas benda sehari-hari</a:t>
            </a:r>
            <a:endParaRPr lang="en-US" sz="1400" dirty="0"/>
          </a:p>
        </p:txBody>
      </p:sp>
      <p:pic>
        <p:nvPicPr>
          <p:cNvPr id="9" name="Image 0" descr="imagene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194560"/>
            <a:ext cx="960120" cy="960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31920" y="2011680"/>
            <a:ext cx="1280160" cy="548640"/>
          </a:xfrm>
          <a:prstGeom prst="rightArrow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84048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394960" y="11887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62356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TARGET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proyek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2148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Ratusan citra komponen industri dari kamera robot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6576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CNN yang mengekstrak fitur (ResNet, MobileNet, CSPDarknet)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9867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akhir yang menghasilkan keluaran tugas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3159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hasil pelatihan di domain sumber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Pembelajaran tradisional vs transfer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577840" cy="2943502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pic>
        <p:nvPicPr>
          <p:cNvPr id="6" name="Image 0" descr="tl_vs_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577840" cy="29435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1393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Gambar: towardsdatascience.com, dikutip dari materi Week 13 Transfer Learning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263640" y="109728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46520" y="1188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Tradisional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tugas belajar dari nol; pengetahuan tidak disimpan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26517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4652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baru memakai pengetahuan tugas lama: lebih cepat, lebih akurat, data lebih sedikit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fitur CNN bisa dipakai ulang?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6</a:t>
            </a:r>
            <a:endParaRPr lang="en-US" sz="9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7E08F1-AEA7-1AAD-00A0-EF95BE326E8C}"/>
              </a:ext>
            </a:extLst>
          </p:cNvPr>
          <p:cNvGrpSpPr/>
          <p:nvPr/>
        </p:nvGrpSpPr>
        <p:grpSpPr>
          <a:xfrm>
            <a:off x="457200" y="1031040"/>
            <a:ext cx="8229600" cy="589681"/>
            <a:chOff x="457200" y="1325880"/>
            <a:chExt cx="8229600" cy="1097280"/>
          </a:xfrm>
        </p:grpSpPr>
        <p:sp>
          <p:nvSpPr>
            <p:cNvPr id="5" name="Shape 2"/>
            <p:cNvSpPr/>
            <p:nvPr/>
          </p:nvSpPr>
          <p:spPr>
            <a:xfrm>
              <a:off x="457200" y="1325880"/>
              <a:ext cx="1463040" cy="1097280"/>
            </a:xfrm>
            <a:prstGeom prst="roundRect">
              <a:avLst>
                <a:gd name="adj" fmla="val 6667"/>
              </a:avLst>
            </a:prstGeom>
            <a:solidFill>
              <a:srgbClr val="E8EEF4"/>
            </a:solidFill>
            <a:ln w="12700">
              <a:solidFill>
                <a:srgbClr val="E8EEF4"/>
              </a:solidFill>
              <a:prstDash val="solid"/>
            </a:ln>
          </p:spPr>
        </p:sp>
        <p:sp>
          <p:nvSpPr>
            <p:cNvPr id="6" name="Text 3"/>
            <p:cNvSpPr txBox="1"/>
            <p:nvPr/>
          </p:nvSpPr>
          <p:spPr>
            <a:xfrm>
              <a:off x="530352" y="1325880"/>
              <a:ext cx="131673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Citra input</a:t>
              </a:r>
              <a:endParaRPr lang="en-US" sz="1250" dirty="0"/>
            </a:p>
          </p:txBody>
        </p:sp>
        <p:sp>
          <p:nvSpPr>
            <p:cNvPr id="7" name="Text 4"/>
            <p:cNvSpPr txBox="1"/>
            <p:nvPr/>
          </p:nvSpPr>
          <p:spPr>
            <a:xfrm>
              <a:off x="1920240" y="1325880"/>
              <a:ext cx="2286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4A8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2148840" y="1325880"/>
              <a:ext cx="1463040" cy="1097280"/>
            </a:xfrm>
            <a:prstGeom prst="roundRect">
              <a:avLst>
                <a:gd name="adj" fmla="val 6667"/>
              </a:avLst>
            </a:prstGeom>
            <a:solidFill>
              <a:srgbClr val="D8F3F0"/>
            </a:solidFill>
            <a:ln w="12700">
              <a:solidFill>
                <a:srgbClr val="D8F3F0"/>
              </a:solidFill>
              <a:prstDash val="solid"/>
            </a:ln>
          </p:spPr>
        </p:sp>
        <p:sp>
          <p:nvSpPr>
            <p:cNvPr id="9" name="Text 6"/>
            <p:cNvSpPr txBox="1"/>
            <p:nvPr/>
          </p:nvSpPr>
          <p:spPr>
            <a:xfrm>
              <a:off x="2221992" y="1325880"/>
              <a:ext cx="131673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Lapisan awal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tepi, warna, gradien</a:t>
              </a:r>
              <a:endParaRPr lang="en-US" sz="1250" dirty="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3611880" y="1325880"/>
              <a:ext cx="2286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4A8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3840480" y="1325880"/>
              <a:ext cx="1463040" cy="1097280"/>
            </a:xfrm>
            <a:prstGeom prst="roundRect">
              <a:avLst>
                <a:gd name="adj" fmla="val 6667"/>
              </a:avLst>
            </a:prstGeom>
            <a:solidFill>
              <a:srgbClr val="B6E7E1"/>
            </a:solidFill>
            <a:ln w="12700">
              <a:solidFill>
                <a:srgbClr val="B6E7E1"/>
              </a:solidFill>
              <a:prstDash val="solid"/>
            </a:ln>
          </p:spPr>
        </p:sp>
        <p:sp>
          <p:nvSpPr>
            <p:cNvPr id="12" name="Text 9"/>
            <p:cNvSpPr txBox="1"/>
            <p:nvPr/>
          </p:nvSpPr>
          <p:spPr>
            <a:xfrm>
              <a:off x="3913632" y="1325880"/>
              <a:ext cx="131673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Lapisan tengah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tekstur, sudut, pola</a:t>
              </a:r>
              <a:endParaRPr lang="en-US" sz="1250" dirty="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5303520" y="1325880"/>
              <a:ext cx="2286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4A8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5532120" y="1325880"/>
              <a:ext cx="1463040" cy="1097280"/>
            </a:xfrm>
            <a:prstGeom prst="roundRect">
              <a:avLst>
                <a:gd name="adj" fmla="val 6667"/>
              </a:avLst>
            </a:prstGeom>
            <a:solidFill>
              <a:srgbClr val="8FD8CE"/>
            </a:solidFill>
            <a:ln w="12700">
              <a:solidFill>
                <a:srgbClr val="8FD8CE"/>
              </a:solidFill>
              <a:prstDash val="solid"/>
            </a:ln>
          </p:spPr>
        </p:sp>
        <p:sp>
          <p:nvSpPr>
            <p:cNvPr id="15" name="Text 12"/>
            <p:cNvSpPr txBox="1"/>
            <p:nvPr/>
          </p:nvSpPr>
          <p:spPr>
            <a:xfrm>
              <a:off x="5605272" y="1325880"/>
              <a:ext cx="131673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Lapisan akhir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bagian objek</a:t>
              </a:r>
              <a:endParaRPr lang="en-US" sz="125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6995160" y="1325880"/>
              <a:ext cx="2286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4A8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7223760" y="1325880"/>
              <a:ext cx="1463040" cy="1097280"/>
            </a:xfrm>
            <a:prstGeom prst="roundRect">
              <a:avLst>
                <a:gd name="adj" fmla="val 6667"/>
              </a:avLst>
            </a:prstGeom>
            <a:solidFill>
              <a:srgbClr val="FCE3BD"/>
            </a:solidFill>
            <a:ln w="12700">
              <a:solidFill>
                <a:srgbClr val="FCE3BD"/>
              </a:solidFill>
              <a:prstDash val="solid"/>
            </a:ln>
          </p:spPr>
        </p:sp>
        <p:sp>
          <p:nvSpPr>
            <p:cNvPr id="18" name="Text 15"/>
            <p:cNvSpPr txBox="1"/>
            <p:nvPr/>
          </p:nvSpPr>
          <p:spPr>
            <a:xfrm>
              <a:off x="7296912" y="1325880"/>
              <a:ext cx="131673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Head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kelas tugas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844361-2105-FD61-E552-9D6D480D49B1}"/>
              </a:ext>
            </a:extLst>
          </p:cNvPr>
          <p:cNvGrpSpPr/>
          <p:nvPr/>
        </p:nvGrpSpPr>
        <p:grpSpPr>
          <a:xfrm>
            <a:off x="530352" y="3847839"/>
            <a:ext cx="8001000" cy="875354"/>
            <a:chOff x="457200" y="2788920"/>
            <a:chExt cx="8229600" cy="1600200"/>
          </a:xfrm>
        </p:grpSpPr>
        <p:sp>
          <p:nvSpPr>
            <p:cNvPr id="19" name="Shape 16"/>
            <p:cNvSpPr/>
            <p:nvPr/>
          </p:nvSpPr>
          <p:spPr>
            <a:xfrm>
              <a:off x="457200" y="2788920"/>
              <a:ext cx="8229600" cy="0"/>
            </a:xfrm>
            <a:prstGeom prst="line">
              <a:avLst/>
            </a:prstGeom>
            <a:noFill/>
            <a:ln w="15875">
              <a:solidFill>
                <a:srgbClr val="5B6675"/>
              </a:solidFill>
              <a:prstDash val="solid"/>
              <a:tailEnd type="triangle"/>
            </a:ln>
          </p:spPr>
        </p:sp>
        <p:sp>
          <p:nvSpPr>
            <p:cNvPr id="20" name="Text 17"/>
            <p:cNvSpPr txBox="1"/>
            <p:nvPr/>
          </p:nvSpPr>
          <p:spPr>
            <a:xfrm>
              <a:off x="457200" y="28803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4A8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UMUM</a:t>
              </a:r>
              <a:endParaRPr lang="en-US" sz="105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5029200" y="288036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b="1" dirty="0">
                  <a:solidFill>
                    <a:srgbClr val="B573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SPESIFIK DOMAIN SUMBER</a:t>
              </a:r>
              <a:endParaRPr lang="en-US" sz="105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57200" y="3383280"/>
              <a:ext cx="8229600" cy="1005840"/>
            </a:xfrm>
            <a:prstGeom prst="roundRect">
              <a:avLst>
                <a:gd name="adj" fmla="val 7273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 20"/>
            <p:cNvSpPr txBox="1"/>
            <p:nvPr/>
          </p:nvSpPr>
          <p:spPr>
            <a:xfrm>
              <a:off x="685800" y="3474720"/>
              <a:ext cx="7772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F2A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Implikasi: </a:t>
              </a:r>
              <a:r>
                <a:rPr lang="en-US" sz="12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lapisan awal bisa dipakai apa adanya; makin dalam lapisannya, makin perlu disesuaikan. Filter tepi yang dipelajari CNN mirip dengan kernel Sobel dari pertemuan 2, bedanya nilai kernel dipelajari dari data.</a:t>
              </a:r>
              <a:endParaRPr lang="en-US" sz="120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1B6E52D9-6862-02EC-20AC-7A0EB0EC5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392" y="1669786"/>
            <a:ext cx="4179216" cy="2092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Keuntungan dan risiko transfer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lebih sedikit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Ratusan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per kelas sering sudah cukup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06040" y="11887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78892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lebih cepat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1691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Puluhan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epoch, bukan ratusan, untuk konvergen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93776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Generalisasi lebih baik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1691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umum membantu mencegah overfitting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1188720"/>
            <a:ext cx="1783080" cy="2377440"/>
          </a:xfrm>
          <a:prstGeom prst="roundRect">
            <a:avLst>
              <a:gd name="adj" fmla="val 4103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086600" y="1325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1691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transfer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terlalu berbeda → buka lebih banyak lapisan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dengan YOLO: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YOLO dari bobot COCO di minggu 6 juga termasuk transfer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strategi transfer learning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809209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pic>
        <p:nvPicPr>
          <p:cNvPr id="6" name="Image 0" descr="strateg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809209" cy="3063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233672"/>
            <a:ext cx="4809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Gambar: towardsdatascience.com, dikutip dari materi Week 13 Transfer Learning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586449" y="1097280"/>
            <a:ext cx="3100351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723609" y="1362456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23609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26529" y="1170432"/>
            <a:ext cx="2323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226529" y="1490472"/>
            <a:ext cx="2323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head dilatih · data sangat sedikit, domain mirip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586449" y="2148840"/>
            <a:ext cx="3100351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23609" y="2414016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723609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226529" y="2221992"/>
            <a:ext cx="2323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parsial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226529" y="2542032"/>
            <a:ext cx="2323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+ blok akhir · data sedang, domain agak berbeda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586449" y="3200400"/>
            <a:ext cx="3100351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23609" y="3465576"/>
            <a:ext cx="384048" cy="384048"/>
          </a:xfrm>
          <a:prstGeom prst="ellipse">
            <a:avLst/>
          </a:prstGeom>
          <a:solidFill>
            <a:srgbClr val="173A5C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23609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226529" y="3273552"/>
            <a:ext cx="23231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penuh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226529" y="3593592"/>
            <a:ext cx="23231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model · data banyak atau domain sangat berbeda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backbone beku, head baru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486400" cy="259017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pic>
        <p:nvPicPr>
          <p:cNvPr id="6" name="Image 0" descr="f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5486400" cy="259017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6061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Gambar: researchgate.net (fig. 4, 342400905), dikutip dari materi Week 13 Transfer Learning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6217920" y="1143000"/>
            <a:ext cx="384048" cy="384048"/>
          </a:xfrm>
          <a:prstGeom prst="ellipse">
            <a:avLst/>
          </a:prstGeom>
          <a:solidFill>
            <a:srgbClr val="C2413B"/>
          </a:solidFill>
          <a:ln w="12700">
            <a:solidFill>
              <a:srgbClr val="C241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1097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Dipotong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lama untuk label sumber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2011680"/>
            <a:ext cx="384048" cy="384048"/>
          </a:xfrm>
          <a:prstGeom prst="ellipse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1965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 dari domain sumber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2880360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baru untuk label target (O1, O2, …)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" y="4206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m.parameters(): p.requires_grad = False   # frozen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m.fc = nn.Linear(512, NUM_CLASSES)                 # classifier baru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keputusan strategi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mirip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3492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berbeda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sedikit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8036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banyak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11680" y="14173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24028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24028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awal proyek lab kita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49240" y="141732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57784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parsial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2057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blok tengah; perbanyak augmentasi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011680" y="28803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2402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penuh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kecil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49240" y="28803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5778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penuh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 pelatihan lebih lama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freezing di PyTorch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846320" cy="32004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3444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models.resnet18(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weights=models.ResNet18_Weights.IMAGENET1K_V1)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bekukan seluruh backbone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m.parameters():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p.requires_grad = False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head baru, otomatis bisa dilatih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m.fc = nn.Linear(m.fc.in_features, NUM_CLASSES)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 for p in m.parameters() if p.requires_grad],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lr=1e-3)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7840" y="1188720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80760" y="1143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463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beku tetap dalam mode eval() agar statistik ImageNet tidak berubah oleh batch kecil.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577840" y="2286000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080760" y="2560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hanya parameter yang dilatih.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577840" y="3383280"/>
            <a:ext cx="384048" cy="384048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baru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yang dibuat ulang otomatis requires_grad = True.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untuk fine-tuning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kecil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 10× lebih kecil dari pelatihan dari nol (1e-5 vs 1e-3)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LR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awal lebih kecil, head lebih besar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43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head dulu, lalu buka blok demi blok (fastai)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atau one-cycle agar stabil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37760" y="109728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2064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discriminative LR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layer1–3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764792"/>
            <a:ext cx="640080" cy="310896"/>
          </a:xfrm>
          <a:prstGeom prst="rect">
            <a:avLst/>
          </a:prstGeom>
          <a:solidFill>
            <a:srgbClr val="C3CCD6"/>
          </a:solidFill>
          <a:ln w="12700">
            <a:solidFill>
              <a:srgbClr val="C3CC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48272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beku / 1e-5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2587752"/>
            <a:ext cx="1188720" cy="310896"/>
          </a:xfrm>
          <a:prstGeom prst="rect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96912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(fc)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3410712"/>
            <a:ext cx="1828800" cy="310896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36992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Samakan preprocessing dengan model sumber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input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69748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kanal (OpenCV membaca BGR!)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0060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0,485 · 0,456 · 0,406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2344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90372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0,229 · 0,224 · 0,225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400050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0352" y="3108960"/>
            <a:ext cx="38541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 → resize → normalisasi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457700" y="3108960"/>
            <a:ext cx="22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686300" y="3108960"/>
            <a:ext cx="400050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9452" y="3108960"/>
            <a:ext cx="38541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 robot: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 → resize → normalisasi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Harus identik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Memilih model pretrained untuk robot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(juta)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ImageNet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Cocok untuk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67,7%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Pi, tanpa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MobileNetV3-Large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74,0%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kelas menengah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77,7%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69,8%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Praktikum hari 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76,1%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Workstation GPU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 YOLO juga punya varian n, s, m dengan trade-off yang sama — dibahas di minggu 6.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perkiraan dari dokumentasi torchvision; dapat berbeda antarversi.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penerapan: klasifikasi buah dan sayur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03473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</p:sp>
      <p:pic>
        <p:nvPicPr>
          <p:cNvPr id="6" name="Image 0" descr="paper_ug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003473" cy="3154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25112"/>
            <a:ext cx="4003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Nazhifah dkk., Universitas Gadjah Mada (materi Week 13)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4826433" y="1097280"/>
            <a:ext cx="386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11.920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4826433" y="1554480"/>
            <a:ext cx="386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citra, 20 kelas jenis dan kondisi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826433" y="2011680"/>
            <a:ext cx="386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826433" y="2468880"/>
            <a:ext cx="386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ResNet18 dengan augmentasi (95% tanpa)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826433" y="2926080"/>
            <a:ext cx="38603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 &gt; VGG16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826433" y="3383280"/>
            <a:ext cx="386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lebih kecil, akurasi lebih tinggi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Anggaran latensi: 15 FPS = ±67 ms per frame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16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614149" cy="731520"/>
          </a:xfrm>
          <a:prstGeom prst="rect">
            <a:avLst/>
          </a:prstGeom>
          <a:solidFill>
            <a:srgbClr val="8FB3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614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Akuisisi + undistort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71349" y="1463040"/>
            <a:ext cx="614149" cy="731520"/>
          </a:xfrm>
          <a:prstGeom prst="rect">
            <a:avLst/>
          </a:prstGeom>
          <a:solidFill>
            <a:srgbClr val="B6CC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71349" y="1463040"/>
            <a:ext cx="614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97029" y="2606040"/>
            <a:ext cx="1162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85499" y="1463040"/>
            <a:ext cx="4299045" cy="731520"/>
          </a:xfrm>
          <a:prstGeom prst="rect">
            <a:avLst/>
          </a:prstGeom>
          <a:solidFill>
            <a:srgbClr val="14A8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85499" y="1463040"/>
            <a:ext cx="42990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411179" y="2286000"/>
            <a:ext cx="48476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Inferensi model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4543" y="1463040"/>
            <a:ext cx="859809" cy="731520"/>
          </a:xfrm>
          <a:prstGeom prst="rect">
            <a:avLst/>
          </a:prstGeom>
          <a:solidFill>
            <a:srgbClr val="8FD8C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84543" y="1463040"/>
            <a:ext cx="8598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710223" y="2606040"/>
            <a:ext cx="1408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44352" y="1463040"/>
            <a:ext cx="614149" cy="731520"/>
          </a:xfrm>
          <a:prstGeom prst="rect">
            <a:avLst/>
          </a:prstGeom>
          <a:solidFill>
            <a:srgbClr val="B6E7E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44352" y="1463040"/>
            <a:ext cx="6141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570032" y="2286000"/>
            <a:ext cx="1162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58501" y="1463040"/>
            <a:ext cx="1228299" cy="731520"/>
          </a:xfrm>
          <a:prstGeom prst="rect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58501" y="1463040"/>
            <a:ext cx="12282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184181" y="2606040"/>
            <a:ext cx="1776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1546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85800" y="3246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 input: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kecil/jauh butuh input lebih besar → lebih lambat.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model bisa dikonversi ke ONNX/TensorRT (minggu 10–11).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 dan panas: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ringan = robot beroperasi lebih lama.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CDIO STAGE #2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pipeline persepsi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 pertama untuk Pj1 · dikumpulkan bertahap hingga minggu 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 dokumen desain (maks. 2 halaman)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 </a:t>
            </a:r>
            <a:r>
              <a:rPr lang="en-US" sz="1400" b="1" dirty="0" err="1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27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persepsi dalam 2–3 kalimat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objek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527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+ contoh foto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0972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179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&amp; dudukan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527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resolusi, tinggi, sudut, jarak kerja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komputasi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624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perangkat, mode daya, memori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46120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kinerja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2624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FPS onboard, kalua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latensi ROS2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17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Kandidat model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624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alasan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TL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721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awal + alasan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46120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42900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data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3721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per kelas, </a:t>
            </a:r>
            <a:r>
              <a:rPr lang="en-US" sz="12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35040" y="32918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2179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17920" y="3721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tiga + mitigasi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Mengambil data di lingkungan operasi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612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Jarak: dekat, sedang, jauh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6642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di citra: tengah dan tepi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Orientasi: tegak, miring, terbalik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670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Cahaya: terang, redup, jendela, bayangan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31729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Latar: meja, lantai, objek pengganggu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367588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8F3F0"/>
          </a:solidFill>
          <a:ln w="15875">
            <a:solidFill>
              <a:srgbClr val="14A89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Sulit: occlusion, tumpuk, motion blur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7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minggu ini: ≥ 50 citra per kelas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0" y="109728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92040" y="11887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dataset_raw/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metadata.csv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baut/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baut_20261001_lab_terang_001.png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mur/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mur_20261001_lab_redup_001.png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metadata.csv: nama_file, kelas, tanggal, kondisi_cahaya — membantu analisis kegagalan di minggu 8 dan 12.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Praktikum P2: alur 120 menit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914400" y="1691640"/>
            <a:ext cx="6949440" cy="0"/>
          </a:xfrm>
          <a:prstGeom prst="line">
            <a:avLst/>
          </a:prstGeom>
          <a:noFill/>
          <a:ln w="38100">
            <a:solidFill>
              <a:srgbClr val="D6DE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citra terkoreksi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8288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1417320"/>
            <a:ext cx="548640" cy="54864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77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train / val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0" y="14173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3 pendekatan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50′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52160" y="1417320"/>
            <a:ext cx="548640" cy="54864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latensi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89520" y="1417320"/>
            <a:ext cx="548640" cy="548640"/>
          </a:xfrm>
          <a:prstGeom prst="ellipse">
            <a:avLst/>
          </a:prstGeom>
          <a:solidFill>
            <a:srgbClr val="14A89A"/>
          </a:solidFill>
          <a:ln w="12700">
            <a:solidFill>
              <a:srgbClr val="14A89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15′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315468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32461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capture.py baut terang   # langkah 1, per kelas &amp; kondisi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split.py                 # langkah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                 # langkah 3: feature | partial | scratch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latency.py               # langkah 4: ResNet-18 vs MobileNetV3-Small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Eksperimen: tiga mode pada ResNet-18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Bobot awal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dilatih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saja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layer4 + fc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/ 1e-3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dicatat: akurasi val terbaik, waktu pelatihan, epoch saat akurasi ≥ 90%.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74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Augmentasi train: RandomResizedCrop, HorizontalFlip, ColorJitter · 10 epoch · CosineAnnealingLR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0" y="109728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23560" y="11887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mode == "partial":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Adam([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{"params":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m.layer4.parameters(),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"lr": 1e-4},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{"params":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m.fc.parameters(),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"lr": 1e-3}])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Waspadai data leakage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24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beruntun dari posisi hampir sama masuk ke train dan val sekaligus.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51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 akurasi validasi terlihat terlalu bagus, tetapi model gagal di lapangan.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D8F3F0"/>
          </a:solidFill>
          <a:ln w="12700">
            <a:solidFill>
              <a:srgbClr val="D8F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Pisahkan data berdasarkan sesi atau kondisi pengambilan.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651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Keluaran P2 dan tugas after-class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RET503 · Pertemuan 3 · 25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4430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Dikumpulkan </a:t>
            </a:r>
            <a:r>
              <a:rPr lang="en-US" sz="1500" b="1" dirty="0" err="1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</a:t>
            </a:r>
            <a:r>
              <a:rPr lang="en-US" sz="15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LMS </a:t>
            </a:r>
            <a:r>
              <a:rPr lang="en-US" sz="1500" b="1" dirty="0" err="1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</a:t>
            </a:r>
            <a:r>
              <a:rPr lang="en-US" sz="15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</a:t>
            </a:r>
            <a:r>
              <a:rPr lang="en-US" sz="1500" b="1" dirty="0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link </a:t>
            </a:r>
            <a:r>
              <a:rPr lang="en-US" sz="1500" b="1" dirty="0" err="1">
                <a:solidFill>
                  <a:srgbClr val="0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desain awal (per kelompok)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dataset_raw + metadata.csv, ≥ 50 citra/kelas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hasil 3 mode + grafik akurasi per epoch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Latensi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yang </a:t>
            </a:r>
            <a:r>
              <a:rPr lang="en-US" sz="13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dipilijh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</a:t>
            </a:r>
            <a:r>
              <a:rPr lang="en-US" sz="13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ID" sz="1400" dirty="0"/>
              <a:t>README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 · PERTEMUAN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 dan anotasi dataset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format YOLO dan COCO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Referensi: [2] Goodfellow dkk. 2016 · [4] Howard &amp; Gugger 2020 · Yosinski dkk. 2014 · Zeiler &amp; Fergus 2014 · Materi Week 13 Transfer Learning, Polibatam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2417</Words>
  <Application>Microsoft Office PowerPoint</Application>
  <PresentationFormat>On-screen Show (16:9)</PresentationFormat>
  <Paragraphs>396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RET503 Pertemuan 3 - Transfer Learning dan Fine-Tuning</dc:title>
  <dc:subject>PptxGenJS Presentation</dc:subject>
  <dc:creator>PptxGenJS</dc:creator>
  <cp:lastModifiedBy>Fahrizal D. Devgan</cp:lastModifiedBy>
  <cp:revision>4</cp:revision>
  <dcterms:created xsi:type="dcterms:W3CDTF">2026-09-26T03:01:24Z</dcterms:created>
  <dcterms:modified xsi:type="dcterms:W3CDTF">2026-09-27T09:13:09Z</dcterms:modified>
</cp:coreProperties>
</file>